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7" r:id="rId2"/>
    <p:sldId id="260" r:id="rId3"/>
    <p:sldId id="261" r:id="rId4"/>
    <p:sldId id="268" r:id="rId5"/>
    <p:sldId id="269" r:id="rId6"/>
    <p:sldId id="271" r:id="rId7"/>
    <p:sldId id="270" r:id="rId8"/>
    <p:sldId id="273" r:id="rId9"/>
    <p:sldId id="272" r:id="rId10"/>
    <p:sldId id="275" r:id="rId11"/>
    <p:sldId id="276" r:id="rId12"/>
  </p:sldIdLst>
  <p:sldSz cx="12192000" cy="6858000"/>
  <p:notesSz cx="6858000" cy="9144000"/>
  <p:embeddedFontLst>
    <p:embeddedFont>
      <p:font typeface="Montserrat" pitchFamily="2" charset="0"/>
      <p:regular r:id="rId14"/>
      <p:bold r:id="rId15"/>
      <p:italic r:id="rId16"/>
      <p:boldItalic r:id="rId17"/>
    </p:embeddedFont>
    <p:embeddedFont>
      <p:font typeface="Montserrat Bold" pitchFamily="2" charset="0"/>
      <p:bold r:id="rId18"/>
    </p:embeddedFont>
    <p:embeddedFont>
      <p:font typeface="Montserrat SemiBold" pitchFamily="2" charset="0"/>
      <p:bold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0000"/>
    <a:srgbClr val="FF4500"/>
    <a:srgbClr val="2C2C2C"/>
    <a:srgbClr val="B22222"/>
    <a:srgbClr val="800000"/>
    <a:srgbClr val="DC143C"/>
    <a:srgbClr val="8B0000"/>
    <a:srgbClr val="DD2476"/>
    <a:srgbClr val="FF512F"/>
    <a:srgbClr val="2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B0B0F-2A5C-460B-9FE0-8F3F54F0E8DB}" v="1397" dt="2025-06-17T11:00:47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2218" autoAdjust="0"/>
  </p:normalViewPr>
  <p:slideViewPr>
    <p:cSldViewPr snapToGrid="0">
      <p:cViewPr varScale="1">
        <p:scale>
          <a:sx n="57" d="100"/>
          <a:sy n="57" d="100"/>
        </p:scale>
        <p:origin x="24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742F7E-E374-450E-8319-36A011F5E0CC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81E47-DA5B-43EB-A866-3F5BFD7C5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83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320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E14F2-C82E-065F-3732-EEE87B2A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020EB-CE87-63CE-390A-4EFD42B16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7E756-8F83-A4C4-5942-191E0996E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A44A9-F427-8894-1082-E61A4FA27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401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214D-96D1-049D-4DC6-256B48A7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C0AD1-6664-C3A5-DE40-7C8FF45C5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E361E-8691-8CFE-418F-8C338879D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FDFEE-FD1D-78B3-C446-3DFF04C91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852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FC5D-F2F0-C14B-DC8E-2EF4910D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34F1A-14E1-2262-617E-21603CBEC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A3C4D-9C09-94BB-11D7-BE6FD9627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53993-7DE2-3EEF-5089-605EDED17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905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0E89-4EEF-DA18-374C-94256E7A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A85F5-3105-D832-FA72-489A7C77C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E254D-4E6A-C64B-A48C-FF8444147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62078-0747-6151-641F-E41DCCCCA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23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EB11-A62E-2A4A-FB81-6D844F36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5FD07-6D89-971F-80E8-66ABEF5D4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15530-D61D-A623-357D-3421E9427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32A87-CB9F-7A67-1216-018AF48D6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863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324BD-BFDD-5DEF-B1F7-BB81A4B4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92CFF-8166-0909-8610-A3DCD0A7B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DC422-F72A-D05C-811F-203926DFF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08BB4-8058-DF65-BF6C-D163EEAA3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89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054E8-8088-57DC-3AF8-84650DF6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04BD3-B5F5-729B-C786-90FD604B2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CE47E-7BCA-898A-7CFD-F4C8A006E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08896-5DE1-4956-A747-088C92E49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902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597FA-D091-E38A-B438-345E8325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82C57-1A81-6132-BB6D-BE33F4BB9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24B38-32AF-009F-5BC1-2FAB850BD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A09C3-5018-9E7A-A250-5A6754704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519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14021-4F5A-D156-3A69-B7AAEA402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2E4F1-20D0-05F1-9715-6070B5AC2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1FD0E-BC7E-EA95-2EE4-29A5217ED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98F52-8008-7BED-8519-07CA39415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E47-DA5B-43EB-A866-3F5BFD7C516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369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B2B4-794D-2697-30D4-1B1AD247C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84859-E1EB-F7F1-A27D-95F09B7B4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0406C-715E-316C-45E5-B1766840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B2168-E9EA-D028-46BC-717A2B91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7D7C5-FE00-F2A7-92EC-709B4540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2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4347-0EC5-EEEC-8B9F-5ABDF661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693FF-6DAF-D7A0-B700-9D422D4F2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6D6F3-8DD8-813B-1C33-85E34638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ACA5E-5431-7607-61D4-B12E488E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48B0C-ADFD-EAC1-3D4E-877FF2B9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031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A530-127E-80BC-2ADC-3569C3D9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D7066-BEA0-7ACB-2F11-4E4908C8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48D4-6B63-CF22-2754-2F537385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A2E3A-6797-553B-1289-D6F958DA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01F1B-FCAA-51E8-E5B5-BED0F17A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269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9A7F-04E8-A0CE-7D44-E7775C0A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978AC-BA56-B866-522A-891C83524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D59AB-9740-FEA1-AE4F-41AEAADFD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D57A7-AE57-646A-B13F-A70DCDB7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9BE32-468F-F527-1FBC-19CA4579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45104-E0CE-E5F0-FBC3-9471590D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24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4253-0FDE-6E25-C255-99927101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186-42FE-0EBC-C8B2-A508C2697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8FF5-B0F0-0D68-F14C-50A120A17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D19DE4-B0CE-1647-1592-635FB465F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944AB-B353-51E8-CE59-ECBC291B9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F3D1F-3FF9-D41D-BF25-3B4F306C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76DCE-051C-8D8C-0B35-FC2041EB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F8E8F-E39C-E820-F726-0251E663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352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9B0F-5A7F-0E32-37F4-03921430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26624-9BD7-F070-28D4-FBBFCAAF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37928-3476-7A66-100B-149F5BC06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90A7F-F690-37E1-73CD-FF8754C5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33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7450F-6B9A-CEEC-B052-154EA94C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849E4-ED72-BA08-24E8-1C88CB0E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66EF2-9315-E16A-8A14-264E39CD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1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801EF-4449-7165-D799-03B036F9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42903-B27E-B15B-0B6B-5F244D6D7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A7521-E9CA-AA1E-17BD-725BF6914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08126-D1E8-D2E7-BB47-A1E7E3CEA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D0AB4-31DE-319A-29F2-58B91483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DF0A6-58D9-E31C-1E0B-983F3D66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19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A8858-7C19-888A-1EF8-89E55B39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3ABE0-123E-775B-F34E-528C55D08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E589D-B234-141B-EA0B-F79F9A953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35135-D86C-4172-3022-C9778640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6B3FC-F396-44EB-2FC9-4CA46FE1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45CE7-A569-EA4D-D774-6EDEDB7F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57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825C-3292-0B72-8746-FA6CEED7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ABA68-8F18-F43C-B6B8-652D5B739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24BF9-B962-DCC5-847F-F90372C9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068A6-25DC-3FA7-EBCA-3384ED91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A0677-0499-31F5-DEC4-ED11D62D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9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E450D-1722-2DD7-60E8-EF9C22756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5781E-FC38-EE7B-E8C8-38CD944AD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10C4C-9DB5-8251-7336-AF621C61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77AA5-3155-49B0-5593-0A60A7D7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EF69B-AAD3-4D68-D1F8-D8A15101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40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75000"/>
              </a:schemeClr>
            </a:gs>
            <a:gs pos="100000">
              <a:schemeClr val="bg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97A88-69BA-9ACB-F9D1-918FEC22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B85EA-DF36-E112-6F4C-20CEA81D2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0A975-D3C8-EEF5-BC5B-B966EAD66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7AA6A-F000-4A19-A948-67676F8C3D45}" type="datetimeFigureOut">
              <a:rPr lang="en-IN" smtClean="0"/>
              <a:t>17-06-2025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2FDEE-FEA1-E6D8-3260-C05C187F7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26409-E748-E724-4B75-41230C1D6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92C94-FA6E-44DF-807A-80649A0AF0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36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slide" Target="slide6.xml"/><Relationship Id="rId26" Type="http://schemas.openxmlformats.org/officeDocument/2006/relationships/image" Target="../media/image17.svg"/><Relationship Id="rId3" Type="http://schemas.openxmlformats.org/officeDocument/2006/relationships/image" Target="../media/image1.jpeg"/><Relationship Id="rId21" Type="http://schemas.openxmlformats.org/officeDocument/2006/relationships/slide" Target="slide10.xml"/><Relationship Id="rId34" Type="http://schemas.openxmlformats.org/officeDocument/2006/relationships/image" Target="../media/image24.png"/><Relationship Id="rId7" Type="http://schemas.openxmlformats.org/officeDocument/2006/relationships/image" Target="../media/image4.png"/><Relationship Id="rId12" Type="http://schemas.openxmlformats.org/officeDocument/2006/relationships/slide" Target="slide5.xml"/><Relationship Id="rId17" Type="http://schemas.openxmlformats.org/officeDocument/2006/relationships/image" Target="../media/image11.svg"/><Relationship Id="rId25" Type="http://schemas.openxmlformats.org/officeDocument/2006/relationships/image" Target="../media/image16.png"/><Relationship Id="rId33" Type="http://schemas.openxmlformats.org/officeDocument/2006/relationships/image" Target="../media/image23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20" Type="http://schemas.openxmlformats.org/officeDocument/2006/relationships/image" Target="../media/image13.svg"/><Relationship Id="rId29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slide" Target="slide4.xml"/><Relationship Id="rId11" Type="http://schemas.openxmlformats.org/officeDocument/2006/relationships/image" Target="../media/image7.svg"/><Relationship Id="rId24" Type="http://schemas.openxmlformats.org/officeDocument/2006/relationships/slide" Target="slide7.xml"/><Relationship Id="rId32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slide" Target="slide8.xml"/><Relationship Id="rId23" Type="http://schemas.openxmlformats.org/officeDocument/2006/relationships/image" Target="../media/image15.svg"/><Relationship Id="rId28" Type="http://schemas.openxmlformats.org/officeDocument/2006/relationships/image" Target="../media/image18.png"/><Relationship Id="rId10" Type="http://schemas.openxmlformats.org/officeDocument/2006/relationships/image" Target="../media/image6.png"/><Relationship Id="rId19" Type="http://schemas.openxmlformats.org/officeDocument/2006/relationships/image" Target="../media/image12.png"/><Relationship Id="rId31" Type="http://schemas.openxmlformats.org/officeDocument/2006/relationships/image" Target="../media/image21.svg"/><Relationship Id="rId4" Type="http://schemas.openxmlformats.org/officeDocument/2006/relationships/image" Target="../media/image2.png"/><Relationship Id="rId9" Type="http://schemas.openxmlformats.org/officeDocument/2006/relationships/slide" Target="slide3.xml"/><Relationship Id="rId14" Type="http://schemas.openxmlformats.org/officeDocument/2006/relationships/image" Target="../media/image9.svg"/><Relationship Id="rId22" Type="http://schemas.openxmlformats.org/officeDocument/2006/relationships/image" Target="../media/image14.png"/><Relationship Id="rId27" Type="http://schemas.openxmlformats.org/officeDocument/2006/relationships/slide" Target="slide9.xml"/><Relationship Id="rId30" Type="http://schemas.openxmlformats.org/officeDocument/2006/relationships/image" Target="../media/image20.png"/><Relationship Id="rId35" Type="http://schemas.openxmlformats.org/officeDocument/2006/relationships/image" Target="../media/image25.svg"/><Relationship Id="rId8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25.sv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svg"/><Relationship Id="rId20" Type="http://schemas.openxmlformats.org/officeDocument/2006/relationships/slide" Target="slide2.xml"/><Relationship Id="rId29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23" Type="http://schemas.openxmlformats.org/officeDocument/2006/relationships/image" Target="../media/image22.png"/><Relationship Id="rId28" Type="http://schemas.openxmlformats.org/officeDocument/2006/relationships/image" Target="../media/image10.png"/><Relationship Id="rId10" Type="http://schemas.openxmlformats.org/officeDocument/2006/relationships/image" Target="../media/image9.svg"/><Relationship Id="rId19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8.png"/><Relationship Id="rId14" Type="http://schemas.openxmlformats.org/officeDocument/2006/relationships/image" Target="../media/image15.svg"/><Relationship Id="rId22" Type="http://schemas.openxmlformats.org/officeDocument/2006/relationships/image" Target="../media/image21.svg"/><Relationship Id="rId27" Type="http://schemas.openxmlformats.org/officeDocument/2006/relationships/slide" Target="slide8.xml"/><Relationship Id="rId30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.png"/><Relationship Id="rId18" Type="http://schemas.openxmlformats.org/officeDocument/2006/relationships/image" Target="../media/image9.svg"/><Relationship Id="rId26" Type="http://schemas.openxmlformats.org/officeDocument/2006/relationships/image" Target="../media/image17.sv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.svg"/><Relationship Id="rId20" Type="http://schemas.openxmlformats.org/officeDocument/2006/relationships/image" Target="../media/image11.svg"/><Relationship Id="rId29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24.png"/><Relationship Id="rId24" Type="http://schemas.openxmlformats.org/officeDocument/2006/relationships/image" Target="../media/image15.svg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28" Type="http://schemas.openxmlformats.org/officeDocument/2006/relationships/image" Target="../media/image19.svg"/><Relationship Id="rId10" Type="http://schemas.openxmlformats.org/officeDocument/2006/relationships/image" Target="../media/image23.svg"/><Relationship Id="rId19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5.svg"/><Relationship Id="rId22" Type="http://schemas.openxmlformats.org/officeDocument/2006/relationships/image" Target="../media/image13.svg"/><Relationship Id="rId27" Type="http://schemas.openxmlformats.org/officeDocument/2006/relationships/image" Target="../media/image18.png"/><Relationship Id="rId30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.png"/><Relationship Id="rId18" Type="http://schemas.openxmlformats.org/officeDocument/2006/relationships/image" Target="../media/image9.svg"/><Relationship Id="rId26" Type="http://schemas.openxmlformats.org/officeDocument/2006/relationships/image" Target="../media/image17.sv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.svg"/><Relationship Id="rId20" Type="http://schemas.openxmlformats.org/officeDocument/2006/relationships/image" Target="../media/image11.svg"/><Relationship Id="rId29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24.png"/><Relationship Id="rId24" Type="http://schemas.openxmlformats.org/officeDocument/2006/relationships/image" Target="../media/image15.svg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28" Type="http://schemas.openxmlformats.org/officeDocument/2006/relationships/image" Target="../media/image19.svg"/><Relationship Id="rId10" Type="http://schemas.openxmlformats.org/officeDocument/2006/relationships/image" Target="../media/image23.svg"/><Relationship Id="rId19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5.svg"/><Relationship Id="rId22" Type="http://schemas.openxmlformats.org/officeDocument/2006/relationships/image" Target="../media/image13.svg"/><Relationship Id="rId27" Type="http://schemas.openxmlformats.org/officeDocument/2006/relationships/image" Target="../media/image18.png"/><Relationship Id="rId30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.png"/><Relationship Id="rId18" Type="http://schemas.openxmlformats.org/officeDocument/2006/relationships/image" Target="../media/image9.svg"/><Relationship Id="rId26" Type="http://schemas.openxmlformats.org/officeDocument/2006/relationships/image" Target="../media/image17.sv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.svg"/><Relationship Id="rId20" Type="http://schemas.openxmlformats.org/officeDocument/2006/relationships/image" Target="../media/image11.svg"/><Relationship Id="rId29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24.png"/><Relationship Id="rId24" Type="http://schemas.openxmlformats.org/officeDocument/2006/relationships/image" Target="../media/image15.svg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28" Type="http://schemas.openxmlformats.org/officeDocument/2006/relationships/image" Target="../media/image19.svg"/><Relationship Id="rId10" Type="http://schemas.openxmlformats.org/officeDocument/2006/relationships/image" Target="../media/image23.svg"/><Relationship Id="rId19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5.svg"/><Relationship Id="rId22" Type="http://schemas.openxmlformats.org/officeDocument/2006/relationships/image" Target="../media/image13.svg"/><Relationship Id="rId27" Type="http://schemas.openxmlformats.org/officeDocument/2006/relationships/image" Target="../media/image18.png"/><Relationship Id="rId30" Type="http://schemas.openxmlformats.org/officeDocument/2006/relationships/slide" Target="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.png"/><Relationship Id="rId18" Type="http://schemas.openxmlformats.org/officeDocument/2006/relationships/image" Target="../media/image9.svg"/><Relationship Id="rId26" Type="http://schemas.openxmlformats.org/officeDocument/2006/relationships/image" Target="../media/image17.sv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.svg"/><Relationship Id="rId20" Type="http://schemas.openxmlformats.org/officeDocument/2006/relationships/image" Target="../media/image11.svg"/><Relationship Id="rId29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24.png"/><Relationship Id="rId24" Type="http://schemas.openxmlformats.org/officeDocument/2006/relationships/image" Target="../media/image15.svg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28" Type="http://schemas.openxmlformats.org/officeDocument/2006/relationships/image" Target="../media/image19.svg"/><Relationship Id="rId10" Type="http://schemas.openxmlformats.org/officeDocument/2006/relationships/image" Target="../media/image23.svg"/><Relationship Id="rId19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5.svg"/><Relationship Id="rId22" Type="http://schemas.openxmlformats.org/officeDocument/2006/relationships/image" Target="../media/image13.svg"/><Relationship Id="rId27" Type="http://schemas.openxmlformats.org/officeDocument/2006/relationships/image" Target="../media/image18.png"/><Relationship Id="rId30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.png"/><Relationship Id="rId18" Type="http://schemas.openxmlformats.org/officeDocument/2006/relationships/image" Target="../media/image9.svg"/><Relationship Id="rId26" Type="http://schemas.openxmlformats.org/officeDocument/2006/relationships/image" Target="../media/image17.sv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.svg"/><Relationship Id="rId20" Type="http://schemas.openxmlformats.org/officeDocument/2006/relationships/image" Target="../media/image11.svg"/><Relationship Id="rId29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24.png"/><Relationship Id="rId24" Type="http://schemas.openxmlformats.org/officeDocument/2006/relationships/image" Target="../media/image15.svg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28" Type="http://schemas.openxmlformats.org/officeDocument/2006/relationships/image" Target="../media/image19.svg"/><Relationship Id="rId10" Type="http://schemas.openxmlformats.org/officeDocument/2006/relationships/image" Target="../media/image23.svg"/><Relationship Id="rId19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5.svg"/><Relationship Id="rId22" Type="http://schemas.openxmlformats.org/officeDocument/2006/relationships/image" Target="../media/image13.svg"/><Relationship Id="rId27" Type="http://schemas.openxmlformats.org/officeDocument/2006/relationships/image" Target="../media/image18.png"/><Relationship Id="rId30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.png"/><Relationship Id="rId18" Type="http://schemas.openxmlformats.org/officeDocument/2006/relationships/image" Target="../media/image9.svg"/><Relationship Id="rId26" Type="http://schemas.openxmlformats.org/officeDocument/2006/relationships/image" Target="../media/image19.svg"/><Relationship Id="rId3" Type="http://schemas.openxmlformats.org/officeDocument/2006/relationships/image" Target="../media/image3.png"/><Relationship Id="rId21" Type="http://schemas.openxmlformats.org/officeDocument/2006/relationships/image" Target="../media/image14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8.png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.svg"/><Relationship Id="rId20" Type="http://schemas.openxmlformats.org/officeDocument/2006/relationships/image" Target="../media/image13.svg"/><Relationship Id="rId29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24.png"/><Relationship Id="rId24" Type="http://schemas.openxmlformats.org/officeDocument/2006/relationships/image" Target="../media/image17.svg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6.png"/><Relationship Id="rId28" Type="http://schemas.openxmlformats.org/officeDocument/2006/relationships/image" Target="../media/image10.png"/><Relationship Id="rId10" Type="http://schemas.openxmlformats.org/officeDocument/2006/relationships/image" Target="../media/image23.svg"/><Relationship Id="rId19" Type="http://schemas.openxmlformats.org/officeDocument/2006/relationships/image" Target="../media/image12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5.svg"/><Relationship Id="rId22" Type="http://schemas.openxmlformats.org/officeDocument/2006/relationships/image" Target="../media/image15.svg"/><Relationship Id="rId27" Type="http://schemas.openxmlformats.org/officeDocument/2006/relationships/slide" Target="slide8.xml"/><Relationship Id="rId30" Type="http://schemas.openxmlformats.org/officeDocument/2006/relationships/slide" Target="slide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4.png"/><Relationship Id="rId18" Type="http://schemas.openxmlformats.org/officeDocument/2006/relationships/image" Target="../media/image9.svg"/><Relationship Id="rId26" Type="http://schemas.openxmlformats.org/officeDocument/2006/relationships/image" Target="../media/image17.sv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.svg"/><Relationship Id="rId20" Type="http://schemas.openxmlformats.org/officeDocument/2006/relationships/image" Target="../media/image11.svg"/><Relationship Id="rId29" Type="http://schemas.openxmlformats.org/officeDocument/2006/relationships/slide" Target="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24.png"/><Relationship Id="rId24" Type="http://schemas.openxmlformats.org/officeDocument/2006/relationships/image" Target="../media/image15.svg"/><Relationship Id="rId5" Type="http://schemas.openxmlformats.org/officeDocument/2006/relationships/image" Target="../media/image2.png"/><Relationship Id="rId15" Type="http://schemas.openxmlformats.org/officeDocument/2006/relationships/image" Target="../media/image6.png"/><Relationship Id="rId23" Type="http://schemas.openxmlformats.org/officeDocument/2006/relationships/image" Target="../media/image14.png"/><Relationship Id="rId28" Type="http://schemas.openxmlformats.org/officeDocument/2006/relationships/image" Target="../media/image19.svg"/><Relationship Id="rId10" Type="http://schemas.openxmlformats.org/officeDocument/2006/relationships/image" Target="../media/image23.svg"/><Relationship Id="rId19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22.png"/><Relationship Id="rId14" Type="http://schemas.openxmlformats.org/officeDocument/2006/relationships/image" Target="../media/image5.svg"/><Relationship Id="rId22" Type="http://schemas.openxmlformats.org/officeDocument/2006/relationships/image" Target="../media/image13.svg"/><Relationship Id="rId27" Type="http://schemas.openxmlformats.org/officeDocument/2006/relationships/image" Target="../media/image18.png"/><Relationship Id="rId30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5.svg"/><Relationship Id="rId18" Type="http://schemas.openxmlformats.org/officeDocument/2006/relationships/image" Target="../media/image12.png"/><Relationship Id="rId26" Type="http://schemas.openxmlformats.org/officeDocument/2006/relationships/slide" Target="slide8.xml"/><Relationship Id="rId3" Type="http://schemas.openxmlformats.org/officeDocument/2006/relationships/image" Target="../media/image1.jpeg"/><Relationship Id="rId21" Type="http://schemas.openxmlformats.org/officeDocument/2006/relationships/image" Target="../media/image15.svg"/><Relationship Id="rId7" Type="http://schemas.openxmlformats.org/officeDocument/2006/relationships/image" Target="../media/image23.svg"/><Relationship Id="rId12" Type="http://schemas.openxmlformats.org/officeDocument/2006/relationships/image" Target="../media/image4.png"/><Relationship Id="rId17" Type="http://schemas.openxmlformats.org/officeDocument/2006/relationships/image" Target="../media/image9.svg"/><Relationship Id="rId25" Type="http://schemas.openxmlformats.org/officeDocument/2006/relationships/image" Target="../media/image19.svg"/><Relationship Id="rId2" Type="http://schemas.openxmlformats.org/officeDocument/2006/relationships/slide" Target="slide2.xml"/><Relationship Id="rId16" Type="http://schemas.openxmlformats.org/officeDocument/2006/relationships/image" Target="../media/image8.png"/><Relationship Id="rId20" Type="http://schemas.openxmlformats.org/officeDocument/2006/relationships/image" Target="../media/image14.png"/><Relationship Id="rId29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1.svg"/><Relationship Id="rId24" Type="http://schemas.openxmlformats.org/officeDocument/2006/relationships/image" Target="../media/image18.png"/><Relationship Id="rId5" Type="http://schemas.openxmlformats.org/officeDocument/2006/relationships/image" Target="../media/image3.png"/><Relationship Id="rId15" Type="http://schemas.openxmlformats.org/officeDocument/2006/relationships/image" Target="../media/image7.svg"/><Relationship Id="rId23" Type="http://schemas.openxmlformats.org/officeDocument/2006/relationships/image" Target="../media/image17.svg"/><Relationship Id="rId28" Type="http://schemas.openxmlformats.org/officeDocument/2006/relationships/image" Target="../media/image11.svg"/><Relationship Id="rId10" Type="http://schemas.openxmlformats.org/officeDocument/2006/relationships/image" Target="../media/image20.png"/><Relationship Id="rId19" Type="http://schemas.openxmlformats.org/officeDocument/2006/relationships/image" Target="../media/image13.svg"/><Relationship Id="rId4" Type="http://schemas.openxmlformats.org/officeDocument/2006/relationships/image" Target="../media/image2.png"/><Relationship Id="rId9" Type="http://schemas.openxmlformats.org/officeDocument/2006/relationships/image" Target="../media/image25.svg"/><Relationship Id="rId14" Type="http://schemas.openxmlformats.org/officeDocument/2006/relationships/image" Target="../media/image6.png"/><Relationship Id="rId22" Type="http://schemas.openxmlformats.org/officeDocument/2006/relationships/image" Target="../media/image16.png"/><Relationship Id="rId2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89F40-99AF-CDA1-AE44-3FF5B0A7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E3C1D2D-9A03-D0FF-FCBD-FB49C9785B22}"/>
              </a:ext>
            </a:extLst>
          </p:cNvPr>
          <p:cNvSpPr/>
          <p:nvPr/>
        </p:nvSpPr>
        <p:spPr>
          <a:xfrm>
            <a:off x="3467100" y="0"/>
            <a:ext cx="8724900" cy="605790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9DC2E-F0CF-42BF-E7D6-EA3BCE647641}"/>
              </a:ext>
            </a:extLst>
          </p:cNvPr>
          <p:cNvSpPr txBox="1"/>
          <p:nvPr/>
        </p:nvSpPr>
        <p:spPr>
          <a:xfrm>
            <a:off x="0" y="1391450"/>
            <a:ext cx="3962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INTERNSHIP REPORT 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93924-1458-B570-C955-42024865108D}"/>
              </a:ext>
            </a:extLst>
          </p:cNvPr>
          <p:cNvSpPr txBox="1"/>
          <p:nvPr/>
        </p:nvSpPr>
        <p:spPr>
          <a:xfrm>
            <a:off x="-3008" y="3028950"/>
            <a:ext cx="4724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 SemiBold" pitchFamily="2" charset="0"/>
              </a:rPr>
              <a:t>Commissioning Panel of BB1500 Lamination Machine</a:t>
            </a:r>
            <a:endParaRPr lang="en-IN" sz="2800" b="1" dirty="0">
              <a:solidFill>
                <a:schemeClr val="tx2">
                  <a:lumMod val="90000"/>
                  <a:lumOff val="10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77D0C-B32C-E12B-97EB-523EDF553C7D}"/>
              </a:ext>
            </a:extLst>
          </p:cNvPr>
          <p:cNvSpPr txBox="1"/>
          <p:nvPr/>
        </p:nvSpPr>
        <p:spPr>
          <a:xfrm>
            <a:off x="0" y="4758664"/>
            <a:ext cx="6299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Suyash Shukla, St Joseph’s University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14</a:t>
            </a:r>
            <a:r>
              <a:rPr lang="en-US" sz="2400" b="1" baseline="30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May to 20</a:t>
            </a:r>
            <a:r>
              <a:rPr lang="en-US" sz="2400" b="1" baseline="30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June</a:t>
            </a:r>
            <a:endParaRPr lang="en-IN" sz="24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pic>
        <p:nvPicPr>
          <p:cNvPr id="4" name="Picture 3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02A441D7-309E-0578-7010-5CF4B0F62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0"/>
            <a:ext cx="2342147" cy="1317458"/>
          </a:xfrm>
          <a:prstGeom prst="rect">
            <a:avLst/>
          </a:prstGeom>
        </p:spPr>
      </p:pic>
      <p:pic>
        <p:nvPicPr>
          <p:cNvPr id="9" name="Picture 8" descr="A logo of a university&#10;&#10;AI-generated content may be incorrect.">
            <a:extLst>
              <a:ext uri="{FF2B5EF4-FFF2-40B4-BE49-F238E27FC236}">
                <a16:creationId xmlns:a16="http://schemas.microsoft.com/office/drawing/2014/main" id="{8AF27729-D633-73DF-F0D7-07316F514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2A8B10-9E1E-686F-D0CD-0900F1619FF6}"/>
              </a:ext>
            </a:extLst>
          </p:cNvPr>
          <p:cNvSpPr>
            <a:spLocks/>
          </p:cNvSpPr>
          <p:nvPr/>
        </p:nvSpPr>
        <p:spPr>
          <a:xfrm>
            <a:off x="7845675" y="7482777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5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8706A122-06AB-8CE7-EB43-12BB68E77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248" y="7360178"/>
            <a:ext cx="2342147" cy="1317458"/>
          </a:xfrm>
          <a:prstGeom prst="rect">
            <a:avLst/>
          </a:prstGeom>
        </p:spPr>
      </p:pic>
      <p:pic>
        <p:nvPicPr>
          <p:cNvPr id="10" name="Picture 9" descr="A logo of a university&#10;&#10;AI-generated content may be incorrect.">
            <a:extLst>
              <a:ext uri="{FF2B5EF4-FFF2-40B4-BE49-F238E27FC236}">
                <a16:creationId xmlns:a16="http://schemas.microsoft.com/office/drawing/2014/main" id="{44CAF4E4-DD07-2556-106B-EBDA8C4E96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81" y="7482777"/>
            <a:ext cx="1103897" cy="105509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0FBC3B-D7C3-C1FC-CADF-392DB0200A71}"/>
              </a:ext>
            </a:extLst>
          </p:cNvPr>
          <p:cNvSpPr txBox="1">
            <a:spLocks/>
          </p:cNvSpPr>
          <p:nvPr/>
        </p:nvSpPr>
        <p:spPr>
          <a:xfrm>
            <a:off x="1705003" y="7654458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65689F8-69D3-4941-F546-0D62771F4701}"/>
              </a:ext>
            </a:extLst>
          </p:cNvPr>
          <p:cNvGrpSpPr/>
          <p:nvPr/>
        </p:nvGrpSpPr>
        <p:grpSpPr>
          <a:xfrm>
            <a:off x="2544884" y="11861225"/>
            <a:ext cx="1762298" cy="2231438"/>
            <a:chOff x="2657265" y="1443842"/>
            <a:chExt cx="1762298" cy="223143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1F3D8B2-B789-225D-581D-8D7406224580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5678321-2FD2-778F-E071-A83A6A8D31EA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450787E-1CAC-E35F-B82C-54AE60CCDA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71" name="Graphic 70" descr="Processor with solid fill">
                <a:extLst>
                  <a:ext uri="{FF2B5EF4-FFF2-40B4-BE49-F238E27FC236}">
                    <a16:creationId xmlns:a16="http://schemas.microsoft.com/office/drawing/2014/main" id="{4A64D290-10EC-952C-74CE-974B8124C3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B64114A-687C-32E7-9386-D933A7C89A7B}"/>
              </a:ext>
            </a:extLst>
          </p:cNvPr>
          <p:cNvGrpSpPr/>
          <p:nvPr/>
        </p:nvGrpSpPr>
        <p:grpSpPr>
          <a:xfrm>
            <a:off x="464529" y="9959512"/>
            <a:ext cx="1762298" cy="2282369"/>
            <a:chOff x="729459" y="1443842"/>
            <a:chExt cx="1762298" cy="2282369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184368B-153D-A704-14C7-B0C47E7DAD9C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DE0C71F-5594-FB55-69B5-25B6D20E3768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E41BB95-AF21-2508-3EF0-3D648E333D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76" name="Graphic 75" descr="Transfer1 with solid fill">
                <a:extLst>
                  <a:ext uri="{FF2B5EF4-FFF2-40B4-BE49-F238E27FC236}">
                    <a16:creationId xmlns:a16="http://schemas.microsoft.com/office/drawing/2014/main" id="{5BB50466-C9DA-F3A4-BB2F-BF05A8654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D922391-12B9-38B6-5565-49D597C4F897}"/>
              </a:ext>
            </a:extLst>
          </p:cNvPr>
          <p:cNvGrpSpPr/>
          <p:nvPr/>
        </p:nvGrpSpPr>
        <p:grpSpPr>
          <a:xfrm>
            <a:off x="4363269" y="14241021"/>
            <a:ext cx="1762298" cy="2249120"/>
            <a:chOff x="4585071" y="1443842"/>
            <a:chExt cx="1762298" cy="2249120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C671AF2-B513-116A-A3FC-4905B2BA0DF3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C85AB0E-C42E-EDF5-6B00-AA5CFE5C968D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167C223-3C44-0A68-11C8-943DA64CCC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81" name="Graphic 80" descr="Plug with solid fill">
                <a:extLst>
                  <a:ext uri="{FF2B5EF4-FFF2-40B4-BE49-F238E27FC236}">
                    <a16:creationId xmlns:a16="http://schemas.microsoft.com/office/drawing/2014/main" id="{E394A361-A03A-E199-BEE3-923E14ABA7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174007C-1A6C-EA27-F95B-C850FF563D4D}"/>
              </a:ext>
            </a:extLst>
          </p:cNvPr>
          <p:cNvGrpSpPr/>
          <p:nvPr/>
        </p:nvGrpSpPr>
        <p:grpSpPr>
          <a:xfrm>
            <a:off x="3149599" y="20951636"/>
            <a:ext cx="1762298" cy="2094290"/>
            <a:chOff x="2657265" y="4090719"/>
            <a:chExt cx="1762298" cy="209429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5CDB366-0413-5D0B-D629-6EC975BA0757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FFAFE16F-EEE0-4D73-960A-E61D5BD76F6B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66543D4B-1226-A23E-B3FF-36AA2D8205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86" name="Graphic 85" descr="Workflow with solid fill">
                <a:extLst>
                  <a:ext uri="{FF2B5EF4-FFF2-40B4-BE49-F238E27FC236}">
                    <a16:creationId xmlns:a16="http://schemas.microsoft.com/office/drawing/2014/main" id="{52F8A81E-D3F4-2094-1018-5F6EC83C00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E342053-286F-EC57-5DB9-44F6F5262D56}"/>
              </a:ext>
            </a:extLst>
          </p:cNvPr>
          <p:cNvGrpSpPr/>
          <p:nvPr/>
        </p:nvGrpSpPr>
        <p:grpSpPr>
          <a:xfrm>
            <a:off x="6445535" y="16166975"/>
            <a:ext cx="2416928" cy="2231439"/>
            <a:chOff x="6136494" y="1443842"/>
            <a:chExt cx="2416928" cy="2231439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6A72B6C-D479-C88A-BAE3-25BC1DB431DE}"/>
                </a:ext>
              </a:extLst>
            </p:cNvPr>
            <p:cNvSpPr txBox="1">
              <a:spLocks/>
            </p:cNvSpPr>
            <p:nvPr/>
          </p:nvSpPr>
          <p:spPr>
            <a:xfrm>
              <a:off x="6136494" y="3028950"/>
              <a:ext cx="2416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696EAA6-655F-FB5D-5C92-42C59F757365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E2F2D59-923B-A55B-80F3-3006701875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91" name="Graphic 90" descr="Circles with arrows with solid fill">
                <a:extLst>
                  <a:ext uri="{FF2B5EF4-FFF2-40B4-BE49-F238E27FC236}">
                    <a16:creationId xmlns:a16="http://schemas.microsoft.com/office/drawing/2014/main" id="{75505F69-3B16-0FF9-DDA5-5604242D80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C69EE7E-ACCB-D6B0-6E9B-15C6784DBA07}"/>
              </a:ext>
            </a:extLst>
          </p:cNvPr>
          <p:cNvGrpSpPr/>
          <p:nvPr/>
        </p:nvGrpSpPr>
        <p:grpSpPr>
          <a:xfrm>
            <a:off x="8328892" y="25355232"/>
            <a:ext cx="2278381" cy="1859740"/>
            <a:chOff x="4343368" y="4090719"/>
            <a:chExt cx="2278381" cy="185974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F3F3F52-DCC4-61B0-F80C-FCA28807878A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5B4FE2A-6BB2-BFB3-88D5-BA952D38E849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0983E3E-4823-88D8-5120-4EAE16F441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96" name="Graphic 95" descr="Tools with solid fill">
                <a:extLst>
                  <a:ext uri="{FF2B5EF4-FFF2-40B4-BE49-F238E27FC236}">
                    <a16:creationId xmlns:a16="http://schemas.microsoft.com/office/drawing/2014/main" id="{A511AA6F-DBF7-A858-B03F-58636AEC5B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4C7764F-9608-8FEE-857F-44F8D92BE4A4}"/>
              </a:ext>
            </a:extLst>
          </p:cNvPr>
          <p:cNvGrpSpPr/>
          <p:nvPr/>
        </p:nvGrpSpPr>
        <p:grpSpPr>
          <a:xfrm>
            <a:off x="847370" y="18872529"/>
            <a:ext cx="1975218" cy="2119058"/>
            <a:chOff x="581891" y="4090719"/>
            <a:chExt cx="1975218" cy="2119058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7C7187A-1AEB-1AE8-68DC-D3148AB8764B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C1EAB22-4C78-3E11-2A7E-7996D76305E1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847AD67D-551C-35A2-0268-AD4307A23E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01" name="Graphic 100" descr="Gears with solid fill">
                <a:extLst>
                  <a:ext uri="{FF2B5EF4-FFF2-40B4-BE49-F238E27FC236}">
                    <a16:creationId xmlns:a16="http://schemas.microsoft.com/office/drawing/2014/main" id="{7A376DA6-2B4D-F0A0-CCA2-BD947F9693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497B590-1898-0671-AF4D-06E8BD37C4B2}"/>
              </a:ext>
            </a:extLst>
          </p:cNvPr>
          <p:cNvGrpSpPr/>
          <p:nvPr/>
        </p:nvGrpSpPr>
        <p:grpSpPr>
          <a:xfrm>
            <a:off x="5889093" y="22718660"/>
            <a:ext cx="1975217" cy="2119058"/>
            <a:chOff x="6512876" y="4090719"/>
            <a:chExt cx="1975217" cy="2119058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4CA7D68-1278-3DCE-1989-DA11750BEC9C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1306F613-0556-E387-D591-6A9F47F35351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31CD5258-3FC6-3E64-ECB5-A2E5DAC5C7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06" name="Graphic 105" descr="Programmer male with solid fill">
                <a:extLst>
                  <a:ext uri="{FF2B5EF4-FFF2-40B4-BE49-F238E27FC236}">
                    <a16:creationId xmlns:a16="http://schemas.microsoft.com/office/drawing/2014/main" id="{7160AB8C-E6C8-8A00-B092-9169B666A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157698-1277-FCAC-728C-07FF2AE190B0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737880-0A71-38FA-2B90-A398AC640961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598EBEF-34B3-A68E-091F-751D896394E7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4" name="Oval 13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E69718AF-3C15-B31D-9D17-66BAD72526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5" name="Graphic 14" descr="Workflow with solid fill">
                <a:extLst>
                  <a:ext uri="{FF2B5EF4-FFF2-40B4-BE49-F238E27FC236}">
                    <a16:creationId xmlns:a16="http://schemas.microsoft.com/office/drawing/2014/main" id="{77BB6A92-FC00-C947-CFC2-09560F158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A2875B-7A4F-ED7B-9C54-8C22132716A6}"/>
              </a:ext>
            </a:extLst>
          </p:cNvPr>
          <p:cNvGrpSpPr/>
          <p:nvPr/>
        </p:nvGrpSpPr>
        <p:grpSpPr>
          <a:xfrm>
            <a:off x="3213197" y="21191739"/>
            <a:ext cx="1762298" cy="2094290"/>
            <a:chOff x="2657265" y="4090719"/>
            <a:chExt cx="1762298" cy="209429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1C5F67-9F3B-2C88-7178-12443AC1C784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9984FF3-2F12-A2E0-9B3E-39511B085F52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9" name="Oval 18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DD3CE59D-86D5-4E05-4C38-376E118553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20" name="Graphic 19" descr="Workflow with solid fill">
                <a:extLst>
                  <a:ext uri="{FF2B5EF4-FFF2-40B4-BE49-F238E27FC236}">
                    <a16:creationId xmlns:a16="http://schemas.microsoft.com/office/drawing/2014/main" id="{571523C0-F73B-66BC-0483-F90E97FDA2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A8B6006-6576-D198-ABDA-91B54099388D}"/>
              </a:ext>
            </a:extLst>
          </p:cNvPr>
          <p:cNvSpPr txBox="1"/>
          <p:nvPr/>
        </p:nvSpPr>
        <p:spPr>
          <a:xfrm>
            <a:off x="-7561766" y="4573998"/>
            <a:ext cx="51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Questions? I’d be happy to explain more.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532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6156-7B5E-C60F-3FC8-5A31F9E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8043BF6-074C-982D-4470-41F7B0B89035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4" name="Picture 3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014D0C5F-0F81-4315-2EB3-258612618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pic>
        <p:nvPicPr>
          <p:cNvPr id="9" name="Picture 8" descr="A logo of a university&#10;&#10;AI-generated content may be incorrect.">
            <a:extLst>
              <a:ext uri="{FF2B5EF4-FFF2-40B4-BE49-F238E27FC236}">
                <a16:creationId xmlns:a16="http://schemas.microsoft.com/office/drawing/2014/main" id="{64D35478-ACF8-6D2D-9ACC-C8B869AF11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CBE48C0-FC21-943C-12B0-5C776BD95D42}"/>
              </a:ext>
            </a:extLst>
          </p:cNvPr>
          <p:cNvSpPr txBox="1">
            <a:spLocks/>
          </p:cNvSpPr>
          <p:nvPr/>
        </p:nvSpPr>
        <p:spPr>
          <a:xfrm>
            <a:off x="1610608" y="294280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CC40C90-6B9F-8799-4788-188F04DD588D}"/>
              </a:ext>
            </a:extLst>
          </p:cNvPr>
          <p:cNvGrpSpPr/>
          <p:nvPr/>
        </p:nvGrpSpPr>
        <p:grpSpPr>
          <a:xfrm>
            <a:off x="2657265" y="1443842"/>
            <a:ext cx="1762298" cy="2231438"/>
            <a:chOff x="2657265" y="1443842"/>
            <a:chExt cx="1762298" cy="223143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A0BCDD9-4ACC-23F9-8EE8-67A4D3EFD656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Circuit Diagram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D1C5DEB-92BD-B224-7E87-EFBDD11B0441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17" name="Oval 1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E99AB6E0-C55C-6248-9726-43EBF5B95F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2" name="Graphic 41" descr="Processor with solid fill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0EFF76AA-E498-239C-F011-5CABFB5E6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A9D9576-4EE7-4DA7-65D3-67CA2B20B49D}"/>
              </a:ext>
            </a:extLst>
          </p:cNvPr>
          <p:cNvGrpSpPr/>
          <p:nvPr/>
        </p:nvGrpSpPr>
        <p:grpSpPr>
          <a:xfrm>
            <a:off x="729459" y="1443842"/>
            <a:ext cx="1762298" cy="2282369"/>
            <a:chOff x="729459" y="1443842"/>
            <a:chExt cx="1762298" cy="228236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612852-218B-05DC-D130-9B683FEBFB7B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Electrical BOM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2F01982-9CB3-829F-B91B-A673715E300B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16" name="Oval 15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5817B336-7DBA-7E6E-BC84-F085B0E7F3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4" name="Graphic 43" descr="Transfer1 with solid fill">
                <a:extLst>
                  <a:ext uri="{FF2B5EF4-FFF2-40B4-BE49-F238E27FC236}">
                    <a16:creationId xmlns:a16="http://schemas.microsoft.com/office/drawing/2014/main" id="{08AD532F-E410-F055-4D28-C966EE950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A0E287B-6505-6D04-836C-44FE49A8B343}"/>
              </a:ext>
            </a:extLst>
          </p:cNvPr>
          <p:cNvGrpSpPr/>
          <p:nvPr/>
        </p:nvGrpSpPr>
        <p:grpSpPr>
          <a:xfrm>
            <a:off x="4585071" y="1443842"/>
            <a:ext cx="1762298" cy="2249120"/>
            <a:chOff x="4585071" y="1443842"/>
            <a:chExt cx="1762298" cy="224912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31D303F-355C-BDCC-A5C4-9574383884EA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Floor Wiring Diagram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01A6C84-BA70-39AE-17F9-E1AD0DA03B5C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18" name="Oval 17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59224072-181B-4539-5181-C344D8A33A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8" name="Graphic 47" descr="Plug with solid fill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0227F62B-512D-6B4B-5AD1-94B2C0810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373BABA-C452-F957-76E0-9DE2913DE69F}"/>
              </a:ext>
            </a:extLst>
          </p:cNvPr>
          <p:cNvGrpSpPr/>
          <p:nvPr/>
        </p:nvGrpSpPr>
        <p:grpSpPr>
          <a:xfrm>
            <a:off x="2657265" y="4090719"/>
            <a:ext cx="1762298" cy="2094290"/>
            <a:chOff x="2657265" y="4090719"/>
            <a:chExt cx="1762298" cy="209429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61226E7-65D3-12E4-E95D-086E420172EB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FC64D7D4-E1DD-03A5-4483-AC28A4F0D465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23" name="Oval 22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1F2615C9-815F-E315-41E4-729E5463F2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50" name="Graphic 49" descr="Workflow with solid fill">
                <a:extLst>
                  <a:ext uri="{FF2B5EF4-FFF2-40B4-BE49-F238E27FC236}">
                    <a16:creationId xmlns:a16="http://schemas.microsoft.com/office/drawing/2014/main" id="{FF071B50-A476-95E4-5080-36AFD9384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99DE3F6-C305-909C-9709-CFEE20109AB9}"/>
              </a:ext>
            </a:extLst>
          </p:cNvPr>
          <p:cNvGrpSpPr/>
          <p:nvPr/>
        </p:nvGrpSpPr>
        <p:grpSpPr>
          <a:xfrm>
            <a:off x="6347369" y="1443842"/>
            <a:ext cx="2376946" cy="2196380"/>
            <a:chOff x="6347369" y="1443842"/>
            <a:chExt cx="2376946" cy="219638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A7E26DC-D290-9C10-0030-B602C1D27E4C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F12AFDC-B95C-B960-182A-5E60E4D767C7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19" name="Oval 18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F8336221-3613-60B4-2453-2AFBC9A153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56" name="Graphic 55" descr="Circles with arrows with solid fill">
                <a:extLst>
                  <a:ext uri="{FF2B5EF4-FFF2-40B4-BE49-F238E27FC236}">
                    <a16:creationId xmlns:a16="http://schemas.microsoft.com/office/drawing/2014/main" id="{F0C25B3F-38B5-5D83-8938-BF52490D0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BE5DC6B-B636-611A-E663-634E1A3BFCAD}"/>
              </a:ext>
            </a:extLst>
          </p:cNvPr>
          <p:cNvGrpSpPr/>
          <p:nvPr/>
        </p:nvGrpSpPr>
        <p:grpSpPr>
          <a:xfrm>
            <a:off x="6347369" y="4186697"/>
            <a:ext cx="2278381" cy="1859740"/>
            <a:chOff x="4343368" y="4090719"/>
            <a:chExt cx="2278381" cy="185974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B8E8F90-0C6C-5C21-F07F-50BB2D46E9E2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Troubleshooting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3955601-BD59-B097-1D08-F0071A2AF8E3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20" name="Oval 19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87475392-F79C-DF63-81AB-6322F6626B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58" name="Graphic 57" descr="Tools with solid fill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E949F329-7AE5-3A81-E8BC-EE2EB1456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C788B46-0AAB-7AB3-5D2B-3A50215587DE}"/>
              </a:ext>
            </a:extLst>
          </p:cNvPr>
          <p:cNvGrpSpPr/>
          <p:nvPr/>
        </p:nvGrpSpPr>
        <p:grpSpPr>
          <a:xfrm>
            <a:off x="581891" y="4090719"/>
            <a:ext cx="1975218" cy="2119058"/>
            <a:chOff x="581891" y="4090719"/>
            <a:chExt cx="1975218" cy="2119058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9C29728-1846-382E-216A-BF636FD5724E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Configuration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D16688F-9DDF-BAC3-3C9F-9F29112131FD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22" name="Oval 21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64E4087E-829F-1631-2603-682AD4A067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60" name="Graphic 59" descr="Gears with solid fill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957ABD31-90A5-9CED-56F1-BA7C72FB7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FF4D96A-1778-3D5C-13E0-D6E60C516F21}"/>
              </a:ext>
            </a:extLst>
          </p:cNvPr>
          <p:cNvGrpSpPr/>
          <p:nvPr/>
        </p:nvGrpSpPr>
        <p:grpSpPr>
          <a:xfrm>
            <a:off x="4484915" y="4186697"/>
            <a:ext cx="1975217" cy="2119058"/>
            <a:chOff x="6512876" y="4090719"/>
            <a:chExt cx="1975217" cy="211905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72FC5F5-C5B9-BE78-FE13-BF5FFC2E8263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Logic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A87FA006-E108-F514-A20B-8132927A82FA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21" name="Oval 20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885A703A-097C-FA45-4D36-01261935E7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69" name="Graphic 68" descr="Programmer male with solid fill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58A4CE3C-2E7B-136C-3D48-5C5B295549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AF202B8-C47E-2D55-2C28-2A55F609E9B8}"/>
              </a:ext>
            </a:extLst>
          </p:cNvPr>
          <p:cNvSpPr/>
          <p:nvPr/>
        </p:nvSpPr>
        <p:spPr>
          <a:xfrm>
            <a:off x="-11005568" y="4432235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4B79D1-87F3-9F7B-615A-C02311C6B21F}"/>
              </a:ext>
            </a:extLst>
          </p:cNvPr>
          <p:cNvSpPr txBox="1"/>
          <p:nvPr/>
        </p:nvSpPr>
        <p:spPr>
          <a:xfrm>
            <a:off x="-11227669" y="1635661"/>
            <a:ext cx="3962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INTERNSHIP REPORT 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500FDC-BE4E-BE3F-8F35-B07355C10487}"/>
              </a:ext>
            </a:extLst>
          </p:cNvPr>
          <p:cNvSpPr txBox="1"/>
          <p:nvPr/>
        </p:nvSpPr>
        <p:spPr>
          <a:xfrm>
            <a:off x="-16460199" y="3073660"/>
            <a:ext cx="4724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 SemiBold" pitchFamily="2" charset="0"/>
              </a:rPr>
              <a:t>Commissioning Panel of BB1500 Lamination Machine</a:t>
            </a:r>
            <a:endParaRPr lang="en-IN" sz="2800" b="1" dirty="0">
              <a:solidFill>
                <a:schemeClr val="tx2">
                  <a:lumMod val="90000"/>
                  <a:lumOff val="10000"/>
                </a:schemeClr>
              </a:solidFill>
              <a:latin typeface="Montserrat SemiBold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74ECF0-DE52-D860-4926-70A20656871B}"/>
              </a:ext>
            </a:extLst>
          </p:cNvPr>
          <p:cNvSpPr txBox="1"/>
          <p:nvPr/>
        </p:nvSpPr>
        <p:spPr>
          <a:xfrm>
            <a:off x="-20234480" y="4904564"/>
            <a:ext cx="6299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Suyash Shukla, St Joseph’s University</a:t>
            </a:r>
          </a:p>
          <a:p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14</a:t>
            </a:r>
            <a:r>
              <a:rPr lang="en-US" sz="2400" b="1" baseline="30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May to 20</a:t>
            </a:r>
            <a:r>
              <a:rPr lang="en-US" sz="2400" b="1" baseline="30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June</a:t>
            </a:r>
            <a:endParaRPr lang="en-IN" sz="24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D349F3-8FD4-DDEE-44CE-3D5631CE219F}"/>
              </a:ext>
            </a:extLst>
          </p:cNvPr>
          <p:cNvSpPr/>
          <p:nvPr/>
        </p:nvSpPr>
        <p:spPr>
          <a:xfrm>
            <a:off x="-10243465" y="4445532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27B628-D1D4-EC03-DDF8-B53F25369C4A}"/>
              </a:ext>
            </a:extLst>
          </p:cNvPr>
          <p:cNvSpPr txBox="1">
            <a:spLocks/>
          </p:cNvSpPr>
          <p:nvPr/>
        </p:nvSpPr>
        <p:spPr>
          <a:xfrm>
            <a:off x="2348296" y="-4590166"/>
            <a:ext cx="427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Electrical BOM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E629B0-3B09-75D7-F3BF-7FB3FB758C89}"/>
              </a:ext>
            </a:extLst>
          </p:cNvPr>
          <p:cNvSpPr txBox="1"/>
          <p:nvPr/>
        </p:nvSpPr>
        <p:spPr>
          <a:xfrm>
            <a:off x="2491757" y="17194790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 Ensure Every critical electrical Component is Precisely Itemized, Organized &amp; Verified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E99B90-84CA-AE48-82C0-D12ADDA2E2BE}"/>
              </a:ext>
            </a:extLst>
          </p:cNvPr>
          <p:cNvSpPr txBox="1"/>
          <p:nvPr/>
        </p:nvSpPr>
        <p:spPr>
          <a:xfrm>
            <a:off x="7297736" y="20227142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Component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Documentation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Planning &amp; Organization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Software Skills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5. Coordination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C3AC94-9248-D07A-AB22-F1E1AAFAD6AC}"/>
              </a:ext>
            </a:extLst>
          </p:cNvPr>
          <p:cNvSpPr txBox="1"/>
          <p:nvPr/>
        </p:nvSpPr>
        <p:spPr>
          <a:xfrm>
            <a:off x="1324098" y="17048271"/>
            <a:ext cx="24200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Provides the Comprehensive Inventory of all the electrical components present in BB1500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13D0BA-86B5-BB88-E0A5-244A859F99E0}"/>
              </a:ext>
            </a:extLst>
          </p:cNvPr>
          <p:cNvGrpSpPr/>
          <p:nvPr/>
        </p:nvGrpSpPr>
        <p:grpSpPr>
          <a:xfrm>
            <a:off x="1779106" y="9632063"/>
            <a:ext cx="1762298" cy="1751709"/>
            <a:chOff x="1111179" y="2399815"/>
            <a:chExt cx="1762298" cy="1751709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F12227D-AAD8-77EC-CEF2-E0705FDA48AD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9" name="Graphic 48" descr="Lightbulb with solid fill">
              <a:extLst>
                <a:ext uri="{FF2B5EF4-FFF2-40B4-BE49-F238E27FC236}">
                  <a16:creationId xmlns:a16="http://schemas.microsoft.com/office/drawing/2014/main" id="{602CE4D2-5306-3C82-66E2-C1A59D442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5F33FE-08B7-AB34-6A2B-6B79EF962D1B}"/>
              </a:ext>
            </a:extLst>
          </p:cNvPr>
          <p:cNvGrpSpPr/>
          <p:nvPr/>
        </p:nvGrpSpPr>
        <p:grpSpPr>
          <a:xfrm>
            <a:off x="4790166" y="10386533"/>
            <a:ext cx="1762298" cy="1751709"/>
            <a:chOff x="4060893" y="2399815"/>
            <a:chExt cx="1762298" cy="1751709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90D2621-C937-8857-482E-AE4AD86DAAA9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3" name="Graphic 52" descr="Bullseye with solid fill">
              <a:extLst>
                <a:ext uri="{FF2B5EF4-FFF2-40B4-BE49-F238E27FC236}">
                  <a16:creationId xmlns:a16="http://schemas.microsoft.com/office/drawing/2014/main" id="{5B1AC209-FF93-AB09-360A-71DE53BD6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D1CFDE-E345-DA30-08B2-C3B2B4F8C4CF}"/>
              </a:ext>
            </a:extLst>
          </p:cNvPr>
          <p:cNvGrpSpPr/>
          <p:nvPr/>
        </p:nvGrpSpPr>
        <p:grpSpPr>
          <a:xfrm>
            <a:off x="7801226" y="11383772"/>
            <a:ext cx="1762298" cy="1751709"/>
            <a:chOff x="7004346" y="2389365"/>
            <a:chExt cx="1762298" cy="1751709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72977DF-28C9-580D-2570-EA6A4BFA30B7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7" name="Graphic 56" descr="Brain in head with solid fill">
              <a:extLst>
                <a:ext uri="{FF2B5EF4-FFF2-40B4-BE49-F238E27FC236}">
                  <a16:creationId xmlns:a16="http://schemas.microsoft.com/office/drawing/2014/main" id="{2E289482-5297-932D-FBE6-3EA2D2B44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21B64EC6-EB46-4DBF-9EA0-C8E9BF5E56B3}"/>
              </a:ext>
            </a:extLst>
          </p:cNvPr>
          <p:cNvSpPr txBox="1"/>
          <p:nvPr/>
        </p:nvSpPr>
        <p:spPr>
          <a:xfrm>
            <a:off x="1671939" y="13943550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786A74-6907-AB70-510E-0BA7E9603384}"/>
              </a:ext>
            </a:extLst>
          </p:cNvPr>
          <p:cNvSpPr txBox="1"/>
          <p:nvPr/>
        </p:nvSpPr>
        <p:spPr>
          <a:xfrm>
            <a:off x="4419563" y="14660577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62C617-6D06-88D8-0E29-1C15BC225471}"/>
              </a:ext>
            </a:extLst>
          </p:cNvPr>
          <p:cNvSpPr txBox="1"/>
          <p:nvPr/>
        </p:nvSpPr>
        <p:spPr>
          <a:xfrm>
            <a:off x="7672273" y="15402902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27B89DB-612C-F2C1-2843-8397FBEB1870}"/>
              </a:ext>
            </a:extLst>
          </p:cNvPr>
          <p:cNvCxnSpPr>
            <a:cxnSpLocks/>
          </p:cNvCxnSpPr>
          <p:nvPr/>
        </p:nvCxnSpPr>
        <p:spPr>
          <a:xfrm>
            <a:off x="4066679" y="10759926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6F92349-B54F-6FAF-A07D-581C3A2A38DD}"/>
              </a:ext>
            </a:extLst>
          </p:cNvPr>
          <p:cNvCxnSpPr>
            <a:cxnSpLocks/>
          </p:cNvCxnSpPr>
          <p:nvPr/>
        </p:nvCxnSpPr>
        <p:spPr>
          <a:xfrm>
            <a:off x="7195379" y="12654354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32AA3664-58BC-126A-7624-D21C9A4CBB9A}"/>
              </a:ext>
            </a:extLst>
          </p:cNvPr>
          <p:cNvSpPr txBox="1"/>
          <p:nvPr/>
        </p:nvSpPr>
        <p:spPr>
          <a:xfrm>
            <a:off x="3935315" y="16709899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This visual clarity is crucial for accurate, safe &amp; confusion free design, wiring, troubleshooting &amp; Maintenance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65C3E1-56AB-9DDD-B5BC-C024BC621DCD}"/>
              </a:ext>
            </a:extLst>
          </p:cNvPr>
          <p:cNvSpPr txBox="1"/>
          <p:nvPr/>
        </p:nvSpPr>
        <p:spPr>
          <a:xfrm>
            <a:off x="7876928" y="19057591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Reading &amp; Interpretation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Software Exposure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F21A74-680B-21A1-5571-6303F463134D}"/>
              </a:ext>
            </a:extLst>
          </p:cNvPr>
          <p:cNvSpPr txBox="1"/>
          <p:nvPr/>
        </p:nvSpPr>
        <p:spPr>
          <a:xfrm>
            <a:off x="-1153" y="14415519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Circuit diagram is a visual representation of the Electrical System, components &amp; Interconnections through standardized electrical Symbol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6D67AB6-F74C-6199-2E84-9DCCB2CAF581}"/>
              </a:ext>
            </a:extLst>
          </p:cNvPr>
          <p:cNvSpPr txBox="1"/>
          <p:nvPr/>
        </p:nvSpPr>
        <p:spPr>
          <a:xfrm>
            <a:off x="3631813" y="16742087"/>
            <a:ext cx="2803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 Ensure Every critical electrical Component is Precisely Itemized, Organized &amp; Verified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BE931C2-C5E0-FA8A-A3FD-E768C514508F}"/>
              </a:ext>
            </a:extLst>
          </p:cNvPr>
          <p:cNvSpPr txBox="1"/>
          <p:nvPr/>
        </p:nvSpPr>
        <p:spPr>
          <a:xfrm>
            <a:off x="7877676" y="19136130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Component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Documentation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Planning &amp; Organization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Software Skills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5. Coordination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2172B86-2F0D-1BAE-93A7-1480A2B38694}"/>
              </a:ext>
            </a:extLst>
          </p:cNvPr>
          <p:cNvSpPr txBox="1"/>
          <p:nvPr/>
        </p:nvSpPr>
        <p:spPr>
          <a:xfrm>
            <a:off x="583021" y="13045321"/>
            <a:ext cx="28179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Provides the Comprehensive Inventory of all the electrical components present in BB1500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5065F88-F581-9758-184D-DCEC90DC894F}"/>
              </a:ext>
            </a:extLst>
          </p:cNvPr>
          <p:cNvSpPr txBox="1"/>
          <p:nvPr/>
        </p:nvSpPr>
        <p:spPr>
          <a:xfrm>
            <a:off x="3825197" y="18258967"/>
            <a:ext cx="26651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safe, organized, and efficient routing of power and signal lines in our machine environments.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259255-D7F3-3A23-8DA6-5215790EB518}"/>
              </a:ext>
            </a:extLst>
          </p:cNvPr>
          <p:cNvSpPr txBox="1"/>
          <p:nvPr/>
        </p:nvSpPr>
        <p:spPr>
          <a:xfrm>
            <a:off x="8111080" y="17935801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Checking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87856FC-0EAB-4635-3109-94A817DC2353}"/>
              </a:ext>
            </a:extLst>
          </p:cNvPr>
          <p:cNvSpPr txBox="1"/>
          <p:nvPr/>
        </p:nvSpPr>
        <p:spPr>
          <a:xfrm>
            <a:off x="538956" y="15296093"/>
            <a:ext cx="3214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floor wiring diagram shows the layout of electrical cables and components across the machine or workspace floor.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D33FEAB-61D2-0B59-4BB0-8BC85ADDD65A}"/>
              </a:ext>
            </a:extLst>
          </p:cNvPr>
          <p:cNvGrpSpPr/>
          <p:nvPr/>
        </p:nvGrpSpPr>
        <p:grpSpPr>
          <a:xfrm>
            <a:off x="3206566" y="15538861"/>
            <a:ext cx="1762298" cy="2094290"/>
            <a:chOff x="2657265" y="4090719"/>
            <a:chExt cx="1762298" cy="2094290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14AF64-8C6E-7FB3-8A43-039F1E077E67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8BF8C53-F318-1241-869C-1CC653A9E0FE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796B719C-6EAD-46A1-67C6-B4BA26A398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00" name="Graphic 99" descr="Workflow with solid fill">
                <a:extLst>
                  <a:ext uri="{FF2B5EF4-FFF2-40B4-BE49-F238E27FC236}">
                    <a16:creationId xmlns:a16="http://schemas.microsoft.com/office/drawing/2014/main" id="{1D0A0E84-2073-E90E-9647-3CE5954710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0F8A177-3AF9-12A9-0DD0-C1686DD49899}"/>
              </a:ext>
            </a:extLst>
          </p:cNvPr>
          <p:cNvSpPr txBox="1"/>
          <p:nvPr/>
        </p:nvSpPr>
        <p:spPr>
          <a:xfrm>
            <a:off x="7432109" y="17328382"/>
            <a:ext cx="408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Reading &amp; Interpretation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Software Exposure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301F512-2D4D-0E61-2AD6-D755769D23D8}"/>
              </a:ext>
            </a:extLst>
          </p:cNvPr>
          <p:cNvSpPr txBox="1"/>
          <p:nvPr/>
        </p:nvSpPr>
        <p:spPr>
          <a:xfrm>
            <a:off x="3602028" y="14070292"/>
            <a:ext cx="2574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makes sure the Optimal Machine Performance, Product Quality, Safe Operations.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DD96D8C-1338-C463-C317-A125652A3085}"/>
              </a:ext>
            </a:extLst>
          </p:cNvPr>
          <p:cNvSpPr txBox="1"/>
          <p:nvPr/>
        </p:nvSpPr>
        <p:spPr>
          <a:xfrm>
            <a:off x="7297736" y="15547620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Parameter Setting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Real Time Monitoring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Detection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Optimization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Sensor Feedback Analysis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AF89FB7-821F-989D-9A71-5C3694A8919C}"/>
              </a:ext>
            </a:extLst>
          </p:cNvPr>
          <p:cNvSpPr txBox="1"/>
          <p:nvPr/>
        </p:nvSpPr>
        <p:spPr>
          <a:xfrm>
            <a:off x="-136353" y="12687817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Processes &amp; Parameter are the key settings like Speed, Tension, Temperature and Pressure that controls machine operation.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7D8BA7B-56D5-5B2D-D192-CD8FED5ADC97}"/>
              </a:ext>
            </a:extLst>
          </p:cNvPr>
          <p:cNvSpPr txBox="1"/>
          <p:nvPr/>
        </p:nvSpPr>
        <p:spPr>
          <a:xfrm>
            <a:off x="4573239" y="13176584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safe, organized, and efficient routing of power and signal lines in industrial environments.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04F1BBB-F0FE-332E-02E3-8EC95905097E}"/>
              </a:ext>
            </a:extLst>
          </p:cNvPr>
          <p:cNvSpPr txBox="1"/>
          <p:nvPr/>
        </p:nvSpPr>
        <p:spPr>
          <a:xfrm>
            <a:off x="2565938" y="13304241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allows precise Automation, Energy Efficiency &amp; Protection of Motor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During the Machine Operation.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A82B882-E0F1-ED76-614F-5B99F11CA404}"/>
              </a:ext>
            </a:extLst>
          </p:cNvPr>
          <p:cNvSpPr txBox="1"/>
          <p:nvPr/>
        </p:nvSpPr>
        <p:spPr>
          <a:xfrm>
            <a:off x="7382286" y="15424298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7797BEF-D655-5952-9FAB-44339BD8C86E}"/>
              </a:ext>
            </a:extLst>
          </p:cNvPr>
          <p:cNvSpPr txBox="1"/>
          <p:nvPr/>
        </p:nvSpPr>
        <p:spPr>
          <a:xfrm>
            <a:off x="-753930" y="12900144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Setting up the VFD.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Which allows Us to control Motor Speed,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Torque &amp; Direction.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424A9BF-B612-D36E-D05E-E7FFC35B4009}"/>
              </a:ext>
            </a:extLst>
          </p:cNvPr>
          <p:cNvSpPr txBox="1"/>
          <p:nvPr/>
        </p:nvSpPr>
        <p:spPr>
          <a:xfrm>
            <a:off x="3929119" y="15354940"/>
            <a:ext cx="272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Smooth, Logical &amp; Automated Machine functioning with minimal Human Interaction.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FB6043F-2F5A-E63B-661B-48CDF126B3F4}"/>
              </a:ext>
            </a:extLst>
          </p:cNvPr>
          <p:cNvSpPr txBox="1"/>
          <p:nvPr/>
        </p:nvSpPr>
        <p:spPr>
          <a:xfrm>
            <a:off x="7552082" y="19946694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Step Analysis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Timing Coordination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E3C516-DA85-3446-6B24-F46FEC9F54CD}"/>
              </a:ext>
            </a:extLst>
          </p:cNvPr>
          <p:cNvSpPr txBox="1"/>
          <p:nvPr/>
        </p:nvSpPr>
        <p:spPr>
          <a:xfrm>
            <a:off x="210773" y="13819354"/>
            <a:ext cx="336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Sequence of Operation defines the Step-by-Step Order in which Machine’s Components Perform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Tasks.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48FB3C0-D6F9-7D77-2D95-61F30958A8A2}"/>
              </a:ext>
            </a:extLst>
          </p:cNvPr>
          <p:cNvSpPr txBox="1"/>
          <p:nvPr/>
        </p:nvSpPr>
        <p:spPr>
          <a:xfrm>
            <a:off x="2657265" y="15180073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allows precise Automation, Energy Efficiency &amp; Protection of Motor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During the Machine Operation.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ACE461B-2D1B-1E92-E586-B6E757E8EA07}"/>
              </a:ext>
            </a:extLst>
          </p:cNvPr>
          <p:cNvSpPr txBox="1"/>
          <p:nvPr/>
        </p:nvSpPr>
        <p:spPr>
          <a:xfrm>
            <a:off x="9220633" y="17447132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24CE85A-ACE1-E032-8867-189A531A99F2}"/>
              </a:ext>
            </a:extLst>
          </p:cNvPr>
          <p:cNvSpPr txBox="1"/>
          <p:nvPr/>
        </p:nvSpPr>
        <p:spPr>
          <a:xfrm>
            <a:off x="-958080" y="13108268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Setting up the VFD.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Which allows Us to control Motor Speed,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Torque &amp; Direction.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5E89556-8CC8-AB93-0E72-F43FF770C3E3}"/>
              </a:ext>
            </a:extLst>
          </p:cNvPr>
          <p:cNvSpPr txBox="1"/>
          <p:nvPr/>
        </p:nvSpPr>
        <p:spPr>
          <a:xfrm>
            <a:off x="2657265" y="15196920"/>
            <a:ext cx="2948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Automates Operation, Ensures Safety &amp; allows Consistent Performance based on Real Time Condition.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D771D5C-3090-A131-2F8B-1B5BA9B92DF8}"/>
              </a:ext>
            </a:extLst>
          </p:cNvPr>
          <p:cNvSpPr txBox="1"/>
          <p:nvPr/>
        </p:nvSpPr>
        <p:spPr>
          <a:xfrm>
            <a:off x="7552082" y="19367141"/>
            <a:ext cx="4125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Logical Conditioning Writing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86E8C85-E0BB-9638-8F33-E5AEDDAFC18D}"/>
              </a:ext>
            </a:extLst>
          </p:cNvPr>
          <p:cNvSpPr txBox="1"/>
          <p:nvPr/>
        </p:nvSpPr>
        <p:spPr>
          <a:xfrm>
            <a:off x="-873155" y="13347723"/>
            <a:ext cx="3214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Structured Set of Instructions that Controls Machine Behavior Through a PLC.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B8A3C44-D4F7-2D02-4DDC-4EF76A0F00A3}"/>
              </a:ext>
            </a:extLst>
          </p:cNvPr>
          <p:cNvSpPr txBox="1"/>
          <p:nvPr/>
        </p:nvSpPr>
        <p:spPr>
          <a:xfrm>
            <a:off x="2848447" y="14808524"/>
            <a:ext cx="272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Smooth, Logical &amp; Automated Machine functioning with minimal Human Interaction.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657156C-3F83-6B75-5E64-D03444CC694B}"/>
              </a:ext>
            </a:extLst>
          </p:cNvPr>
          <p:cNvSpPr txBox="1"/>
          <p:nvPr/>
        </p:nvSpPr>
        <p:spPr>
          <a:xfrm>
            <a:off x="7961498" y="16191382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Step Analysis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Timing Coordination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DD251AE-14FC-29A7-870A-B9D0E9027A79}"/>
              </a:ext>
            </a:extLst>
          </p:cNvPr>
          <p:cNvSpPr txBox="1"/>
          <p:nvPr/>
        </p:nvSpPr>
        <p:spPr>
          <a:xfrm>
            <a:off x="385083" y="12561172"/>
            <a:ext cx="336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Sequence of Operation defines the Step-by-Step Order in which Machine’s Components Perform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Tasks.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D35AE2F-4766-B9C9-AEB5-B278931EF01A}"/>
              </a:ext>
            </a:extLst>
          </p:cNvPr>
          <p:cNvSpPr txBox="1"/>
          <p:nvPr/>
        </p:nvSpPr>
        <p:spPr>
          <a:xfrm>
            <a:off x="2735020" y="15286935"/>
            <a:ext cx="294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helps restore Machine functionality quickly, Minimize Downtime &amp; ensures Safe Operation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E4D3B88-4B5B-5F91-0B7B-90C2A3CA798F}"/>
              </a:ext>
            </a:extLst>
          </p:cNvPr>
          <p:cNvSpPr txBox="1"/>
          <p:nvPr/>
        </p:nvSpPr>
        <p:spPr>
          <a:xfrm>
            <a:off x="8111080" y="20500639"/>
            <a:ext cx="4125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Identification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Multimeter Usage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Error Code Interpretation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Signal Tracing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Root Cause Analysis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B7CA6E6-82B1-0C5E-D102-E7340BF48B19}"/>
              </a:ext>
            </a:extLst>
          </p:cNvPr>
          <p:cNvSpPr txBox="1"/>
          <p:nvPr/>
        </p:nvSpPr>
        <p:spPr>
          <a:xfrm>
            <a:off x="-947557" y="12851102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Identifying, diagnosing &amp; Resolving faults in Electrical or Control System.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7DE4DCB-105F-99E7-F354-82DB1C699383}"/>
              </a:ext>
            </a:extLst>
          </p:cNvPr>
          <p:cNvSpPr txBox="1"/>
          <p:nvPr/>
        </p:nvSpPr>
        <p:spPr>
          <a:xfrm>
            <a:off x="3525780" y="15893580"/>
            <a:ext cx="2948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Automates Operation, Ensures Safety &amp; allows Consistent Performance based on Real Time Condition.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040D404-B375-5CBD-EB03-BC1D594898C1}"/>
              </a:ext>
            </a:extLst>
          </p:cNvPr>
          <p:cNvSpPr txBox="1"/>
          <p:nvPr/>
        </p:nvSpPr>
        <p:spPr>
          <a:xfrm>
            <a:off x="7599872" y="19713901"/>
            <a:ext cx="4125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Logical Conditioning Writing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9A1A3E8-B28C-8F37-66ED-F1B0FBEF5C8C}"/>
              </a:ext>
            </a:extLst>
          </p:cNvPr>
          <p:cNvSpPr txBox="1"/>
          <p:nvPr/>
        </p:nvSpPr>
        <p:spPr>
          <a:xfrm>
            <a:off x="-443963" y="14278975"/>
            <a:ext cx="3214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Structured Set of Instructions that Controls Machine Behavior Through a PLC.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FC50470-500E-73DE-A9AD-5F482B2AB16D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89EED89-6EFB-E44E-EDE4-EF05C5E614AF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50186E35-9EAC-91C3-C223-C7DE2434E94C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30" name="Oval 129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6445F842-BB0F-B2AD-D0C7-C92B91ED86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31" name="Graphic 130" descr="Workflow with solid fill">
                <a:extLst>
                  <a:ext uri="{FF2B5EF4-FFF2-40B4-BE49-F238E27FC236}">
                    <a16:creationId xmlns:a16="http://schemas.microsoft.com/office/drawing/2014/main" id="{C3DEBB97-41F5-BFC0-A458-4D35E7DAC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9E505998-5F9E-EB95-1ABC-597B2A2A05CD}"/>
              </a:ext>
            </a:extLst>
          </p:cNvPr>
          <p:cNvSpPr txBox="1">
            <a:spLocks/>
          </p:cNvSpPr>
          <p:nvPr/>
        </p:nvSpPr>
        <p:spPr>
          <a:xfrm>
            <a:off x="2279226" y="-4728519"/>
            <a:ext cx="427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Circuit Diagram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A31AB93-E9B2-5FB9-46EE-7C5F1DDB64B6}"/>
              </a:ext>
            </a:extLst>
          </p:cNvPr>
          <p:cNvSpPr txBox="1">
            <a:spLocks/>
          </p:cNvSpPr>
          <p:nvPr/>
        </p:nvSpPr>
        <p:spPr>
          <a:xfrm>
            <a:off x="3513090" y="-7009808"/>
            <a:ext cx="6735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Floor Wiring Diagram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B12DDAC-29D3-C8A9-24F2-5A5225F3101C}"/>
              </a:ext>
            </a:extLst>
          </p:cNvPr>
          <p:cNvSpPr txBox="1">
            <a:spLocks/>
          </p:cNvSpPr>
          <p:nvPr/>
        </p:nvSpPr>
        <p:spPr>
          <a:xfrm>
            <a:off x="2192066" y="-5977890"/>
            <a:ext cx="4666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Various Processes &amp; Parameter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B510D10-9410-5DF4-6A73-E97AF4E6BCC9}"/>
              </a:ext>
            </a:extLst>
          </p:cNvPr>
          <p:cNvSpPr txBox="1">
            <a:spLocks/>
          </p:cNvSpPr>
          <p:nvPr/>
        </p:nvSpPr>
        <p:spPr>
          <a:xfrm>
            <a:off x="2220162" y="-5804129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Drive Configuration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FAA953A-E293-C151-25A2-BB8D3299296C}"/>
              </a:ext>
            </a:extLst>
          </p:cNvPr>
          <p:cNvSpPr txBox="1">
            <a:spLocks/>
          </p:cNvSpPr>
          <p:nvPr/>
        </p:nvSpPr>
        <p:spPr>
          <a:xfrm>
            <a:off x="1891719" y="-4373058"/>
            <a:ext cx="5708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Sequence of Operation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3B8AD78-2BFD-C909-198F-9DB234A0E424}"/>
              </a:ext>
            </a:extLst>
          </p:cNvPr>
          <p:cNvSpPr txBox="1">
            <a:spLocks/>
          </p:cNvSpPr>
          <p:nvPr/>
        </p:nvSpPr>
        <p:spPr>
          <a:xfrm>
            <a:off x="2047668" y="-6598613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Programming Logic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D618967-5E71-768A-586B-F63932A7133B}"/>
              </a:ext>
            </a:extLst>
          </p:cNvPr>
          <p:cNvSpPr txBox="1">
            <a:spLocks/>
          </p:cNvSpPr>
          <p:nvPr/>
        </p:nvSpPr>
        <p:spPr>
          <a:xfrm>
            <a:off x="3330236" y="-8220069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Troubleshooting</a:t>
            </a:r>
            <a:endParaRPr lang="en-IN" sz="3600" b="1" dirty="0">
              <a:latin typeface="Montserrat Bold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E9BAE9-B4C6-6C0B-394B-A6F86BF3307B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793E0C-2FD8-797A-71DE-FE58266B7660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D5431F-06EF-1DEE-A1CB-2178879AEFA6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6C4760D-21BE-86C5-8E3C-AA2E8DBCDA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" name="Graphic 7" descr="Circles with arrows with solid fill">
                <a:extLst>
                  <a:ext uri="{FF2B5EF4-FFF2-40B4-BE49-F238E27FC236}">
                    <a16:creationId xmlns:a16="http://schemas.microsoft.com/office/drawing/2014/main" id="{0CEA5E28-AB64-6CC7-95E9-67CE9DE6E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115DB3-AE97-D47C-6C2D-86A6156EDB37}"/>
              </a:ext>
            </a:extLst>
          </p:cNvPr>
          <p:cNvSpPr txBox="1"/>
          <p:nvPr/>
        </p:nvSpPr>
        <p:spPr>
          <a:xfrm>
            <a:off x="-14452608" y="4219945"/>
            <a:ext cx="4209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Thank You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09711E-B908-2E8B-EA78-EBE3C8505DCC}"/>
              </a:ext>
            </a:extLst>
          </p:cNvPr>
          <p:cNvSpPr txBox="1"/>
          <p:nvPr/>
        </p:nvSpPr>
        <p:spPr>
          <a:xfrm>
            <a:off x="-9369841" y="3304492"/>
            <a:ext cx="4209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Thank You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1C3F9D-DD19-EC18-F34D-4CF107192968}"/>
              </a:ext>
            </a:extLst>
          </p:cNvPr>
          <p:cNvSpPr txBox="1"/>
          <p:nvPr/>
        </p:nvSpPr>
        <p:spPr>
          <a:xfrm>
            <a:off x="-12348037" y="4540279"/>
            <a:ext cx="51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Questions? I’d be happy to explain more.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362FC5-81A0-9C67-B289-62FF796589E6}"/>
              </a:ext>
            </a:extLst>
          </p:cNvPr>
          <p:cNvSpPr txBox="1"/>
          <p:nvPr/>
        </p:nvSpPr>
        <p:spPr>
          <a:xfrm>
            <a:off x="7451554" y="17550210"/>
            <a:ext cx="4438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Component Dissection &amp; Analysis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Documentation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Planning &amp; Organization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SAP Exposure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5. Coordination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EC7B05-2A1E-147A-F55D-83947846FA74}"/>
              </a:ext>
            </a:extLst>
          </p:cNvPr>
          <p:cNvSpPr txBox="1"/>
          <p:nvPr/>
        </p:nvSpPr>
        <p:spPr>
          <a:xfrm>
            <a:off x="4008104" y="16888611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This visual clarity is crucial for accurate, safe &amp; error free design, wiring, troubleshooting &amp; Maintenance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1E72D3-66F0-900E-8C36-FDE4D7D9F4FC}"/>
              </a:ext>
            </a:extLst>
          </p:cNvPr>
          <p:cNvSpPr txBox="1"/>
          <p:nvPr/>
        </p:nvSpPr>
        <p:spPr>
          <a:xfrm>
            <a:off x="7344709" y="19276643"/>
            <a:ext cx="438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Drawing Reading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E-Plan Exposure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386192-492C-523E-2C52-AFE69A4A7CE9}"/>
              </a:ext>
            </a:extLst>
          </p:cNvPr>
          <p:cNvSpPr txBox="1"/>
          <p:nvPr/>
        </p:nvSpPr>
        <p:spPr>
          <a:xfrm>
            <a:off x="488779" y="14966957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floor wiring diagram shows the layout of electrical cables and components across the machine.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120B89-6157-8F75-ADB8-DE9C0EF33B73}"/>
              </a:ext>
            </a:extLst>
          </p:cNvPr>
          <p:cNvSpPr txBox="1"/>
          <p:nvPr/>
        </p:nvSpPr>
        <p:spPr>
          <a:xfrm>
            <a:off x="7843157" y="17756261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Checking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621E3E5-526A-D00C-4B39-FB0FFEAD6337}"/>
              </a:ext>
            </a:extLst>
          </p:cNvPr>
          <p:cNvSpPr txBox="1"/>
          <p:nvPr/>
        </p:nvSpPr>
        <p:spPr>
          <a:xfrm>
            <a:off x="-50278" y="12881954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Processes &amp; Parameter are the key settings like Speed, Tension, Temperature and Pressure that controls Operational Flow of the Machine.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53064D9-040D-CB20-F47D-EFDAA7FC1C92}"/>
              </a:ext>
            </a:extLst>
          </p:cNvPr>
          <p:cNvSpPr txBox="1"/>
          <p:nvPr/>
        </p:nvSpPr>
        <p:spPr>
          <a:xfrm>
            <a:off x="7252626" y="15612898"/>
            <a:ext cx="3953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Parameter Setting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Real Time Monitoring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Detection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Optimization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Sensor Feedback &amp; Analysis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E985A40-3321-C580-57DB-8EA178295A67}"/>
              </a:ext>
            </a:extLst>
          </p:cNvPr>
          <p:cNvSpPr txBox="1"/>
          <p:nvPr/>
        </p:nvSpPr>
        <p:spPr>
          <a:xfrm>
            <a:off x="7340750" y="16175491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F52F16-6900-F263-6E73-E3536AC89344}"/>
              </a:ext>
            </a:extLst>
          </p:cNvPr>
          <p:cNvSpPr txBox="1"/>
          <p:nvPr/>
        </p:nvSpPr>
        <p:spPr>
          <a:xfrm>
            <a:off x="7601664" y="14416324"/>
            <a:ext cx="44386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Conditioning Logic Programming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5A09433-C70C-896F-B09F-3F28DFDE041C}"/>
              </a:ext>
            </a:extLst>
          </p:cNvPr>
          <p:cNvSpPr txBox="1"/>
          <p:nvPr/>
        </p:nvSpPr>
        <p:spPr>
          <a:xfrm>
            <a:off x="7342521" y="16064937"/>
            <a:ext cx="4436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Identification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Measuring Instruments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Error Code Interpretation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Signal Tracing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Root Cause Analysis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C34D7A0-4E09-9FB6-547D-95E87157E7E8}"/>
              </a:ext>
            </a:extLst>
          </p:cNvPr>
          <p:cNvSpPr txBox="1"/>
          <p:nvPr/>
        </p:nvSpPr>
        <p:spPr>
          <a:xfrm>
            <a:off x="7512881" y="15659947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Diagnosis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15DDCA5-8481-8357-BE96-B6D22CF8B7AE}"/>
              </a:ext>
            </a:extLst>
          </p:cNvPr>
          <p:cNvSpPr txBox="1"/>
          <p:nvPr/>
        </p:nvSpPr>
        <p:spPr>
          <a:xfrm>
            <a:off x="7397996" y="16510594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Functional Flow Sequence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Event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214071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0927-669B-3776-3775-4222D31D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102E5BC3-8F82-6435-54CE-023F7D5C1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CE41CAC-4387-5E89-0A78-6CE61263EB4A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BB79422-1E9B-E258-7353-081C106845D7}"/>
              </a:ext>
            </a:extLst>
          </p:cNvPr>
          <p:cNvGrpSpPr/>
          <p:nvPr/>
        </p:nvGrpSpPr>
        <p:grpSpPr>
          <a:xfrm>
            <a:off x="3126955" y="-6418070"/>
            <a:ext cx="1762298" cy="2231438"/>
            <a:chOff x="2657265" y="1443842"/>
            <a:chExt cx="1762298" cy="223143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2A54177-76BD-759B-4D61-81D85CF94553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A107160-2748-9C93-E5D0-EFAD862AA636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637E030-A691-02B4-EC03-60FE31898C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6" name="Graphic 55" descr="Processor with solid fill">
                <a:extLst>
                  <a:ext uri="{FF2B5EF4-FFF2-40B4-BE49-F238E27FC236}">
                    <a16:creationId xmlns:a16="http://schemas.microsoft.com/office/drawing/2014/main" id="{7C51C0E6-BF38-3FB1-3E42-C24C3A6B7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0D5D0B6-09B8-C7B2-F1DE-3EA7923DBBC2}"/>
              </a:ext>
            </a:extLst>
          </p:cNvPr>
          <p:cNvGrpSpPr/>
          <p:nvPr/>
        </p:nvGrpSpPr>
        <p:grpSpPr>
          <a:xfrm>
            <a:off x="999113" y="-4399037"/>
            <a:ext cx="1762298" cy="2282369"/>
            <a:chOff x="729459" y="1443842"/>
            <a:chExt cx="1762298" cy="228236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5F9C2E6-A8BC-FC22-B7F7-46A714EBD84A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B37B50-6B06-92DE-4422-559655E26E5F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8140CDA-F63D-ADEE-27AD-258F18BEDA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1" name="Graphic 60" descr="Transfer1 with solid fill">
                <a:extLst>
                  <a:ext uri="{FF2B5EF4-FFF2-40B4-BE49-F238E27FC236}">
                    <a16:creationId xmlns:a16="http://schemas.microsoft.com/office/drawing/2014/main" id="{30002251-E9D4-EBEF-EBC9-5FCF6AF871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689BFB5-709F-4B8C-93C1-DC4E09CBBB13}"/>
              </a:ext>
            </a:extLst>
          </p:cNvPr>
          <p:cNvGrpSpPr/>
          <p:nvPr/>
        </p:nvGrpSpPr>
        <p:grpSpPr>
          <a:xfrm>
            <a:off x="5675396" y="-8525260"/>
            <a:ext cx="1762298" cy="2249120"/>
            <a:chOff x="4585071" y="1443842"/>
            <a:chExt cx="1762298" cy="2249120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D981020-0E45-8976-79CD-65CCF9A90A27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1F1406B-793F-AADA-6B2E-26E0AC35EDF9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DF075C5-115E-BC03-1F36-1C78FD6255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6" name="Graphic 65" descr="Plug with solid fill">
                <a:extLst>
                  <a:ext uri="{FF2B5EF4-FFF2-40B4-BE49-F238E27FC236}">
                    <a16:creationId xmlns:a16="http://schemas.microsoft.com/office/drawing/2014/main" id="{1857E6E2-0FCD-5B3D-7B0C-ABE45D55D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B11D1E0-DFFD-EDB2-1472-14082A4F7756}"/>
              </a:ext>
            </a:extLst>
          </p:cNvPr>
          <p:cNvGrpSpPr/>
          <p:nvPr/>
        </p:nvGrpSpPr>
        <p:grpSpPr>
          <a:xfrm>
            <a:off x="8241283" y="-10569523"/>
            <a:ext cx="2342147" cy="2231439"/>
            <a:chOff x="6211275" y="1443842"/>
            <a:chExt cx="2342147" cy="2231439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8D14F50-B407-095A-9A82-6CA2A042A395}"/>
                </a:ext>
              </a:extLst>
            </p:cNvPr>
            <p:cNvSpPr txBox="1">
              <a:spLocks/>
            </p:cNvSpPr>
            <p:nvPr/>
          </p:nvSpPr>
          <p:spPr>
            <a:xfrm>
              <a:off x="6211275" y="3028950"/>
              <a:ext cx="23421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22AB325-5F61-5E0B-8661-E312395A646A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280DCE4-167E-8145-4369-D1E70279BB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76" name="Graphic 75" descr="Circles with arrows with solid fill">
                <a:extLst>
                  <a:ext uri="{FF2B5EF4-FFF2-40B4-BE49-F238E27FC236}">
                    <a16:creationId xmlns:a16="http://schemas.microsoft.com/office/drawing/2014/main" id="{7E9E6D60-E085-1EED-FEC1-ADE952DF8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BF5E919-F693-C009-DEF6-B7369A60C938}"/>
              </a:ext>
            </a:extLst>
          </p:cNvPr>
          <p:cNvGrpSpPr/>
          <p:nvPr/>
        </p:nvGrpSpPr>
        <p:grpSpPr>
          <a:xfrm>
            <a:off x="8143607" y="10711691"/>
            <a:ext cx="2278381" cy="1859740"/>
            <a:chOff x="4343368" y="4090719"/>
            <a:chExt cx="2278381" cy="1859740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8EDCFC6-AFE7-CC6C-0099-A8DF1658E543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5E65728-28DA-8FB0-EF9A-46FA880A5128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FB4B790-D095-370B-83B5-CCB15AC190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81" name="Graphic 80" descr="Tools with solid fill">
                <a:extLst>
                  <a:ext uri="{FF2B5EF4-FFF2-40B4-BE49-F238E27FC236}">
                    <a16:creationId xmlns:a16="http://schemas.microsoft.com/office/drawing/2014/main" id="{CAE3C0AC-0D42-2AB1-701B-0582C5F496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BE66217-F48E-7C55-45CD-F3C813599522}"/>
              </a:ext>
            </a:extLst>
          </p:cNvPr>
          <p:cNvGrpSpPr/>
          <p:nvPr/>
        </p:nvGrpSpPr>
        <p:grpSpPr>
          <a:xfrm>
            <a:off x="11504" y="17480751"/>
            <a:ext cx="1975218" cy="2119058"/>
            <a:chOff x="581891" y="4090719"/>
            <a:chExt cx="1975218" cy="2119058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5FDB98F-0EEE-40CC-844B-FB0AE326C039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A3E21C0-450F-0292-2156-5C5F1ACB520B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8A83579-DAE9-595B-1C17-B5FFDB4458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86" name="Graphic 85" descr="Gears with solid fill">
                <a:extLst>
                  <a:ext uri="{FF2B5EF4-FFF2-40B4-BE49-F238E27FC236}">
                    <a16:creationId xmlns:a16="http://schemas.microsoft.com/office/drawing/2014/main" id="{13DD25F0-1FBE-A972-00B8-0199609C11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16C8F6C-DEED-355E-B1CD-36E2E3C3ED39}"/>
              </a:ext>
            </a:extLst>
          </p:cNvPr>
          <p:cNvGrpSpPr/>
          <p:nvPr/>
        </p:nvGrpSpPr>
        <p:grpSpPr>
          <a:xfrm>
            <a:off x="5568936" y="13312123"/>
            <a:ext cx="1975217" cy="2119058"/>
            <a:chOff x="6512876" y="4090719"/>
            <a:chExt cx="1975217" cy="211905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61648DB-741F-C1B0-00EA-144FFBFC7558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A7CA88F-D321-4E10-A838-2A60125BB52E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12ECC91-D309-543A-9B0D-5660872751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91" name="Graphic 90" descr="Programmer male with solid fill">
                <a:extLst>
                  <a:ext uri="{FF2B5EF4-FFF2-40B4-BE49-F238E27FC236}">
                    <a16:creationId xmlns:a16="http://schemas.microsoft.com/office/drawing/2014/main" id="{74BCEC3B-AB1E-7D14-FB03-B1E5FEF59B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1CE96E29-748F-71B0-7550-D993E7A2139A}"/>
              </a:ext>
            </a:extLst>
          </p:cNvPr>
          <p:cNvSpPr txBox="1">
            <a:spLocks/>
          </p:cNvSpPr>
          <p:nvPr/>
        </p:nvSpPr>
        <p:spPr>
          <a:xfrm>
            <a:off x="3079057" y="531361"/>
            <a:ext cx="427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Electrical BOM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F75FDAAC-A61A-4D84-AA04-A26D5B4E792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7B839CC3-1FF4-3C9F-E7FF-226CA42CDAD5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6CA8E62-D22B-E740-CFBA-44F31818E8C5}"/>
              </a:ext>
            </a:extLst>
          </p:cNvPr>
          <p:cNvSpPr txBox="1"/>
          <p:nvPr/>
        </p:nvSpPr>
        <p:spPr>
          <a:xfrm>
            <a:off x="3668987" y="4255383"/>
            <a:ext cx="2803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 Ensure Every critical electrical Component is Precisely Itemized, Organized &amp; Verified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E246A-E9BB-5F8D-FB28-0416D764FF6E}"/>
              </a:ext>
            </a:extLst>
          </p:cNvPr>
          <p:cNvSpPr txBox="1"/>
          <p:nvPr/>
        </p:nvSpPr>
        <p:spPr>
          <a:xfrm>
            <a:off x="6866357" y="4278163"/>
            <a:ext cx="4438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Component Dissection &amp; Analysis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Documentation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Planning &amp; Organization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SAP Exposure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5. Coordination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381E313-DDD3-9F20-44F5-1A95C586E98F}"/>
              </a:ext>
            </a:extLst>
          </p:cNvPr>
          <p:cNvSpPr txBox="1"/>
          <p:nvPr/>
        </p:nvSpPr>
        <p:spPr>
          <a:xfrm>
            <a:off x="541218" y="4205766"/>
            <a:ext cx="28179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Provides the Comprehensive Inventory of all the electrical components present in BB1500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pic>
        <p:nvPicPr>
          <p:cNvPr id="9" name="Picture 8" descr="A logo of a university&#10;&#10;AI-generated content may be incorrect.">
            <a:extLst>
              <a:ext uri="{FF2B5EF4-FFF2-40B4-BE49-F238E27FC236}">
                <a16:creationId xmlns:a16="http://schemas.microsoft.com/office/drawing/2014/main" id="{EFD84C01-3F72-0C46-13B6-5ACAB3D8E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180" y="-9491541"/>
            <a:ext cx="1103897" cy="1055093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4A4ED09-9D9B-46E5-CE6E-86EAC8CD9442}"/>
              </a:ext>
            </a:extLst>
          </p:cNvPr>
          <p:cNvSpPr>
            <a:spLocks/>
          </p:cNvSpPr>
          <p:nvPr/>
        </p:nvSpPr>
        <p:spPr>
          <a:xfrm>
            <a:off x="8007451" y="-6819959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2C2154-59C2-4168-1466-03233C320F36}"/>
              </a:ext>
            </a:extLst>
          </p:cNvPr>
          <p:cNvSpPr txBox="1">
            <a:spLocks/>
          </p:cNvSpPr>
          <p:nvPr/>
        </p:nvSpPr>
        <p:spPr>
          <a:xfrm>
            <a:off x="3030879" y="-9610325"/>
            <a:ext cx="427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Circuit Diagram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2" name="Picture 11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AFEB8E-CAF8-0FBF-A5B3-F2B9F15B025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776" y="-9444856"/>
            <a:ext cx="2342147" cy="13174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42EC51A-592E-0F5E-6D58-F12144EE4A7F}"/>
              </a:ext>
            </a:extLst>
          </p:cNvPr>
          <p:cNvSpPr/>
          <p:nvPr/>
        </p:nvSpPr>
        <p:spPr>
          <a:xfrm>
            <a:off x="-10328025" y="487087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B7559C-4FCB-F07C-2801-D5CB5ECBE9C1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59DB7B2-B10B-1383-C695-88B3E8130BE1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20" action="ppaction://hlinksldjump"/>
              <a:extLst>
                <a:ext uri="{FF2B5EF4-FFF2-40B4-BE49-F238E27FC236}">
                  <a16:creationId xmlns:a16="http://schemas.microsoft.com/office/drawing/2014/main" id="{461ECDB3-9E78-8026-204F-F80E3DBB5FDE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" name="Graphic 28" descr="Lightbulb with solid fill">
              <a:hlinkClick r:id="rId20" action="ppaction://hlinksldjump"/>
              <a:extLst>
                <a:ext uri="{FF2B5EF4-FFF2-40B4-BE49-F238E27FC236}">
                  <a16:creationId xmlns:a16="http://schemas.microsoft.com/office/drawing/2014/main" id="{8EB81DAF-737D-59FE-D4A1-F33D644A1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B93EAD-03A9-4B28-C7C0-492D5417FFE0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C6CA1-C792-08ED-2033-8C9EF0E06311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69B6454E-4624-8ADD-08AC-EA22E1C56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2CC9FD0-0206-E261-E292-36C2709F4A34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7762D26-2AF4-606D-31F4-19C53EFED9BB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9A5B48CF-CCD2-18B4-B45D-812BAF7A0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F2A8997-1BAD-6FD6-B504-AD45FAF93DD1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1D4C2F-E8A4-AE5A-C711-71F09A51B630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FA9C2C5-05CF-1FBA-9366-2572E19BF4DB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79E51BF-F684-E7A3-7A39-BC4585DF9109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9AD62E2-859E-2E98-54BA-093CA3887353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38B922CE-85FF-AC34-7BE0-B844CD066EEA}"/>
              </a:ext>
            </a:extLst>
          </p:cNvPr>
          <p:cNvSpPr txBox="1"/>
          <p:nvPr/>
        </p:nvSpPr>
        <p:spPr>
          <a:xfrm>
            <a:off x="3935315" y="16709899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This visual clarity is crucial for accurate, safe &amp; confusion free design, wiring, troubleshooting &amp; Maintenance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63453EE-C9BC-CAEB-D8D5-F8AA72476521}"/>
              </a:ext>
            </a:extLst>
          </p:cNvPr>
          <p:cNvSpPr txBox="1"/>
          <p:nvPr/>
        </p:nvSpPr>
        <p:spPr>
          <a:xfrm>
            <a:off x="7876928" y="19057591"/>
            <a:ext cx="4303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Reading &amp; Interpretation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Software Exposure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22F874B-C84D-2597-2B22-D6C616A960A7}"/>
              </a:ext>
            </a:extLst>
          </p:cNvPr>
          <p:cNvSpPr txBox="1"/>
          <p:nvPr/>
        </p:nvSpPr>
        <p:spPr>
          <a:xfrm>
            <a:off x="-1153" y="14415519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Circuit diagram is a visual representation of the Electrical System, components &amp; Interconnections through standardized electrical Symbol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093E800-370D-F691-B33D-C1A52B44AECD}"/>
              </a:ext>
            </a:extLst>
          </p:cNvPr>
          <p:cNvGrpSpPr/>
          <p:nvPr/>
        </p:nvGrpSpPr>
        <p:grpSpPr>
          <a:xfrm>
            <a:off x="2931929" y="15492772"/>
            <a:ext cx="1762298" cy="2094290"/>
            <a:chOff x="2657265" y="4090719"/>
            <a:chExt cx="1762298" cy="2094290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AB978AA-F261-B9EA-2E3D-5E47175E0552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1A3489B5-2B44-3B06-C9CD-FE621E354242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28" name="Oval 127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45B8BDED-6CB9-C5D6-B362-F4FC4FA619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29" name="Graphic 128" descr="Workflow with solid fill">
                <a:extLst>
                  <a:ext uri="{FF2B5EF4-FFF2-40B4-BE49-F238E27FC236}">
                    <a16:creationId xmlns:a16="http://schemas.microsoft.com/office/drawing/2014/main" id="{FDFA5BB5-B1C9-3AC4-ED90-D5716D40A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6186147-C763-1FB3-E438-B037054B471C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C4D1329-57C4-B633-8C4F-F5D6CCFB2F39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9458F4F-CC33-D1AC-52F2-3E9AF43FE780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33" name="Oval 132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1D693581-10D4-364A-5120-8FE59E5B4C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34" name="Graphic 133" descr="Workflow with solid fill">
                <a:extLst>
                  <a:ext uri="{FF2B5EF4-FFF2-40B4-BE49-F238E27FC236}">
                    <a16:creationId xmlns:a16="http://schemas.microsoft.com/office/drawing/2014/main" id="{1B1483E3-760B-ADC4-8D11-E7FCF88844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C57922-39A0-2C9F-6036-53DD9A1F8160}"/>
              </a:ext>
            </a:extLst>
          </p:cNvPr>
          <p:cNvGrpSpPr/>
          <p:nvPr/>
        </p:nvGrpSpPr>
        <p:grpSpPr>
          <a:xfrm>
            <a:off x="3084329" y="15645172"/>
            <a:ext cx="1762298" cy="2094290"/>
            <a:chOff x="2657265" y="4090719"/>
            <a:chExt cx="1762298" cy="2094290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DB35F48-6C5B-686B-55B3-7BB4F3892B09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A6328E06-80B2-7A65-B964-CD872009E62D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38" name="Oval 137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75999501-1EB4-C265-E02A-72FC85CA38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39" name="Graphic 138" descr="Workflow with solid fill">
                <a:extLst>
                  <a:ext uri="{FF2B5EF4-FFF2-40B4-BE49-F238E27FC236}">
                    <a16:creationId xmlns:a16="http://schemas.microsoft.com/office/drawing/2014/main" id="{80E57051-E743-CA97-CBA3-A06C8124C2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1040CDA-7428-4261-0CBB-42FEE279D9D1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74C1386-890A-ECF1-F90E-A044889DEA12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C14303-310D-31E0-B7B6-CDDF5DD821E6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9610FBA-C34F-F2FA-BB95-03132A082F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7" name="Graphic 6" descr="Circles with arrows with solid fill">
                <a:extLst>
                  <a:ext uri="{FF2B5EF4-FFF2-40B4-BE49-F238E27FC236}">
                    <a16:creationId xmlns:a16="http://schemas.microsoft.com/office/drawing/2014/main" id="{3FAF8F36-432B-3D02-F262-6F49918D1B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D37507-A8A5-AAF7-0A59-FC4D43503B5B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7D1E18-5327-9D03-62F2-39EDDE7523DF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7A8764-7A9A-704E-FDA2-A5A333A46CEF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16" name="Oval 15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37A1524B-182A-0A0D-BC63-E9B10146F6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7" name="Graphic 16" descr="Circles with arrows with solid fill">
                <a:extLst>
                  <a:ext uri="{FF2B5EF4-FFF2-40B4-BE49-F238E27FC236}">
                    <a16:creationId xmlns:a16="http://schemas.microsoft.com/office/drawing/2014/main" id="{395A4356-E1DE-2EF6-0655-5492C39172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F169602-DA83-EC12-FC1E-F3B180716015}"/>
              </a:ext>
            </a:extLst>
          </p:cNvPr>
          <p:cNvSpPr txBox="1"/>
          <p:nvPr/>
        </p:nvSpPr>
        <p:spPr>
          <a:xfrm>
            <a:off x="4008104" y="16888611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This visual clarity is crucial for accurate, safe &amp; error free design, wiring, troubleshooting &amp; Maintenance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510168-AC28-A573-E1BF-4A43D2CC61AE}"/>
              </a:ext>
            </a:extLst>
          </p:cNvPr>
          <p:cNvSpPr txBox="1"/>
          <p:nvPr/>
        </p:nvSpPr>
        <p:spPr>
          <a:xfrm>
            <a:off x="7344709" y="19276643"/>
            <a:ext cx="438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Drawing Reading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E-Plan Exposure</a:t>
            </a:r>
          </a:p>
        </p:txBody>
      </p:sp>
    </p:spTree>
    <p:extLst>
      <p:ext uri="{BB962C8B-B14F-4D97-AF65-F5344CB8AC3E}">
        <p14:creationId xmlns:p14="http://schemas.microsoft.com/office/powerpoint/2010/main" val="620331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72B15-CD67-3311-533D-68F62A115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5F89A85F-1FC5-9EC7-70A8-BBF990C2C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A3EA8B2-DFFC-A79C-DD94-465CAE28F9F4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8A38A73-FF0A-A206-BE12-47715B0BC85F}"/>
              </a:ext>
            </a:extLst>
          </p:cNvPr>
          <p:cNvSpPr txBox="1">
            <a:spLocks/>
          </p:cNvSpPr>
          <p:nvPr/>
        </p:nvSpPr>
        <p:spPr>
          <a:xfrm>
            <a:off x="3079057" y="531361"/>
            <a:ext cx="427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Circuit Diagram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9F180DB-83BE-811B-E991-10A3D23027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5844DE53-7FF4-585C-14E1-70CEE00850D7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356F6E1-ECE9-EB80-0D81-B4FEF0FB4CAB}"/>
              </a:ext>
            </a:extLst>
          </p:cNvPr>
          <p:cNvSpPr txBox="1"/>
          <p:nvPr/>
        </p:nvSpPr>
        <p:spPr>
          <a:xfrm>
            <a:off x="3753463" y="4264959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This visual clarity is crucial for accurate, safe &amp; error free design, wiring, troubleshooting &amp; Maintenance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B2F783E-DDAF-E518-EEE4-75A7E2094C98}"/>
              </a:ext>
            </a:extLst>
          </p:cNvPr>
          <p:cNvSpPr txBox="1"/>
          <p:nvPr/>
        </p:nvSpPr>
        <p:spPr>
          <a:xfrm>
            <a:off x="6990177" y="4277352"/>
            <a:ext cx="438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Drawing Reading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E-Plan Exposure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7A4B1FA-8E52-AE51-C85A-F153AF8060E5}"/>
              </a:ext>
            </a:extLst>
          </p:cNvPr>
          <p:cNvSpPr txBox="1"/>
          <p:nvPr/>
        </p:nvSpPr>
        <p:spPr>
          <a:xfrm>
            <a:off x="147386" y="4212454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Circuit diagram is a visual representation of the Electrical System, components &amp; Interconnections through standardized electrical Symbol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AF275-56B6-0A44-523E-478B985A93B3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928CD7-4174-3B32-1580-0EE5775758F2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2C06CDED-B1C2-3839-1E48-B2BF484E9184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" name="Graphic 28" descr="Lightbulb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931AD7F8-F8EA-EF3F-FF10-E10A4596A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12EE2B3-FDD8-9583-63BB-C3E787D2E3CE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6AF93B7-F419-D9CB-001D-ACEDAD645FB4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D9D6F78F-C713-0982-E9B1-807263382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452F16-CCA3-5237-DC46-2761AA4E20B7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D0E314-6958-11F6-C6CD-BB6D01873A9C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578E4274-EA93-6C91-5102-2E3DDB499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7E679956-1E02-632F-E191-C1B37228E93A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BD0177B-3BDF-1439-3844-56C8D27CDEF7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A5E7153-020E-FCB0-7714-E070CB90D691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F8ADA73-BA66-A47D-3969-B6CEF5AA4505}"/>
              </a:ext>
            </a:extLst>
          </p:cNvPr>
          <p:cNvSpPr txBox="1">
            <a:spLocks/>
          </p:cNvSpPr>
          <p:nvPr/>
        </p:nvSpPr>
        <p:spPr>
          <a:xfrm>
            <a:off x="-10756014" y="529322"/>
            <a:ext cx="427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Electrical BOM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7BFA46-8807-2482-61DB-44902E329C92}"/>
              </a:ext>
            </a:extLst>
          </p:cNvPr>
          <p:cNvSpPr/>
          <p:nvPr/>
        </p:nvSpPr>
        <p:spPr>
          <a:xfrm>
            <a:off x="-10021993" y="4382148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F548E6-59CB-0078-9730-A45CDC7620DB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C8E35E-197F-DFB5-0DE6-EFB0FC511E02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90FDDE6-6DEF-DC4A-CA3A-56F6E696001E}"/>
              </a:ext>
            </a:extLst>
          </p:cNvPr>
          <p:cNvSpPr txBox="1"/>
          <p:nvPr/>
        </p:nvSpPr>
        <p:spPr>
          <a:xfrm>
            <a:off x="3631813" y="16742087"/>
            <a:ext cx="2803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 Ensure Every critical electrical Component is Precisely Itemized, Organized &amp; Verified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87FFE0F-6928-A017-D5D7-FE990F3CA004}"/>
              </a:ext>
            </a:extLst>
          </p:cNvPr>
          <p:cNvSpPr txBox="1"/>
          <p:nvPr/>
        </p:nvSpPr>
        <p:spPr>
          <a:xfrm>
            <a:off x="7877676" y="19136130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Component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Documentation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Planning &amp; Organization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Software Skills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5. Coordination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BF343F5-F775-AC10-66C5-8CF297D2545B}"/>
              </a:ext>
            </a:extLst>
          </p:cNvPr>
          <p:cNvSpPr txBox="1"/>
          <p:nvPr/>
        </p:nvSpPr>
        <p:spPr>
          <a:xfrm>
            <a:off x="583021" y="13045321"/>
            <a:ext cx="28179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Provides the Comprehensive Inventory of all the electrical components present in BB1500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E3B5B9E-37BE-E8B9-DE20-B20E9BFAA933}"/>
              </a:ext>
            </a:extLst>
          </p:cNvPr>
          <p:cNvSpPr txBox="1">
            <a:spLocks/>
          </p:cNvSpPr>
          <p:nvPr/>
        </p:nvSpPr>
        <p:spPr>
          <a:xfrm>
            <a:off x="3513090" y="-7009808"/>
            <a:ext cx="6735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Floor Wiring Diagram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92038A8-74B7-9C94-22ED-E7FE80032D8C}"/>
              </a:ext>
            </a:extLst>
          </p:cNvPr>
          <p:cNvSpPr txBox="1"/>
          <p:nvPr/>
        </p:nvSpPr>
        <p:spPr>
          <a:xfrm>
            <a:off x="3825198" y="18258967"/>
            <a:ext cx="28012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safe, organized, and efficient routing of power and signal lines in our machine environments.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3DAB8D5-5314-441C-D9ED-E96792E5CC8E}"/>
              </a:ext>
            </a:extLst>
          </p:cNvPr>
          <p:cNvSpPr txBox="1"/>
          <p:nvPr/>
        </p:nvSpPr>
        <p:spPr>
          <a:xfrm>
            <a:off x="7843157" y="17756261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Checking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6255CF6-3A67-6690-5372-CDF2FB822B79}"/>
              </a:ext>
            </a:extLst>
          </p:cNvPr>
          <p:cNvSpPr txBox="1"/>
          <p:nvPr/>
        </p:nvSpPr>
        <p:spPr>
          <a:xfrm>
            <a:off x="538956" y="15296093"/>
            <a:ext cx="3214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floor wiring diagram shows the layout of electrical cables and components across the machine or workspace floor.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F4C756E-4395-6E06-641B-4AFDF9A78403}"/>
              </a:ext>
            </a:extLst>
          </p:cNvPr>
          <p:cNvGrpSpPr/>
          <p:nvPr/>
        </p:nvGrpSpPr>
        <p:grpSpPr>
          <a:xfrm>
            <a:off x="3279355" y="-6265670"/>
            <a:ext cx="1762298" cy="2231438"/>
            <a:chOff x="2657265" y="1443842"/>
            <a:chExt cx="1762298" cy="223143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42415DB-8BA1-33CB-1E7D-EAE36B5D5CAA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F6309A63-009C-6749-37F6-385EBCC29F95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E92F6313-E434-382F-36D0-0640279135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18" name="Graphic 117" descr="Processor with solid fill">
                <a:extLst>
                  <a:ext uri="{FF2B5EF4-FFF2-40B4-BE49-F238E27FC236}">
                    <a16:creationId xmlns:a16="http://schemas.microsoft.com/office/drawing/2014/main" id="{7EF420CD-B738-115B-8D7B-77F3204275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471F841-69D7-A3E8-4796-9B04B6D54A7E}"/>
              </a:ext>
            </a:extLst>
          </p:cNvPr>
          <p:cNvGrpSpPr/>
          <p:nvPr/>
        </p:nvGrpSpPr>
        <p:grpSpPr>
          <a:xfrm>
            <a:off x="1151513" y="-4246637"/>
            <a:ext cx="1762298" cy="2282369"/>
            <a:chOff x="729459" y="1443842"/>
            <a:chExt cx="1762298" cy="2282369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E4039CF-9433-A099-F5E6-37888E15F796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CCE4027D-CE9C-9C00-871E-3FC4E992F298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8D0D6112-79D2-37F4-E858-5F8AD2E867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24" name="Graphic 123" descr="Transfer1 with solid fill">
                <a:extLst>
                  <a:ext uri="{FF2B5EF4-FFF2-40B4-BE49-F238E27FC236}">
                    <a16:creationId xmlns:a16="http://schemas.microsoft.com/office/drawing/2014/main" id="{15E1B830-E309-D571-5055-F19C7527BD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DA0B84E-C308-8B4F-D366-802CD50A8F9F}"/>
              </a:ext>
            </a:extLst>
          </p:cNvPr>
          <p:cNvGrpSpPr/>
          <p:nvPr/>
        </p:nvGrpSpPr>
        <p:grpSpPr>
          <a:xfrm>
            <a:off x="5827796" y="-8372860"/>
            <a:ext cx="1762298" cy="2249120"/>
            <a:chOff x="4585071" y="1443842"/>
            <a:chExt cx="1762298" cy="2249120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E60894EC-1663-0675-452A-CAD8BC9F3CC1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F13D099-BA1D-E676-8C98-90EF8F2D787F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6F3BA2FB-51F8-4433-9CAC-EDDBBED899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29" name="Graphic 128" descr="Plug with solid fill">
                <a:extLst>
                  <a:ext uri="{FF2B5EF4-FFF2-40B4-BE49-F238E27FC236}">
                    <a16:creationId xmlns:a16="http://schemas.microsoft.com/office/drawing/2014/main" id="{DC035074-9BF5-A2A3-4F48-C6AEEFF53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82CC611-4181-44E7-BF4B-6AF29CC4FE5C}"/>
              </a:ext>
            </a:extLst>
          </p:cNvPr>
          <p:cNvGrpSpPr/>
          <p:nvPr/>
        </p:nvGrpSpPr>
        <p:grpSpPr>
          <a:xfrm>
            <a:off x="3206566" y="15538861"/>
            <a:ext cx="1762298" cy="2094290"/>
            <a:chOff x="2657265" y="4090719"/>
            <a:chExt cx="1762298" cy="2094290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58E04E5-B7B2-E659-AD06-FBA083AD4E68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927198EC-D875-E30F-F4DA-60EE08F88EBC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9BB0F25C-79A1-3944-1E06-07D22F245F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34" name="Graphic 133" descr="Workflow with solid fill">
                <a:extLst>
                  <a:ext uri="{FF2B5EF4-FFF2-40B4-BE49-F238E27FC236}">
                    <a16:creationId xmlns:a16="http://schemas.microsoft.com/office/drawing/2014/main" id="{6427F3A9-BBA1-A636-AFFA-7429423F7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0F2C50C-B61F-EED4-01B2-0960C111C39B}"/>
              </a:ext>
            </a:extLst>
          </p:cNvPr>
          <p:cNvGrpSpPr/>
          <p:nvPr/>
        </p:nvGrpSpPr>
        <p:grpSpPr>
          <a:xfrm>
            <a:off x="8417038" y="-10417123"/>
            <a:ext cx="2318792" cy="2231439"/>
            <a:chOff x="6234630" y="1443842"/>
            <a:chExt cx="2318792" cy="2231439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D7B117C-A7EF-65C0-393A-8E23B878375C}"/>
                </a:ext>
              </a:extLst>
            </p:cNvPr>
            <p:cNvSpPr txBox="1">
              <a:spLocks/>
            </p:cNvSpPr>
            <p:nvPr/>
          </p:nvSpPr>
          <p:spPr>
            <a:xfrm>
              <a:off x="6234630" y="3028950"/>
              <a:ext cx="2318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02DE0EB4-7E78-EEBB-246F-CF6E10F09818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9AA5C038-F8F6-F8E1-2FA0-7D186E2EB6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39" name="Graphic 138" descr="Circles with arrows with solid fill">
                <a:extLst>
                  <a:ext uri="{FF2B5EF4-FFF2-40B4-BE49-F238E27FC236}">
                    <a16:creationId xmlns:a16="http://schemas.microsoft.com/office/drawing/2014/main" id="{7916F330-999C-999E-460F-5700AE97A5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DF5CF38-E4C2-54D8-931D-3ED51033B13E}"/>
              </a:ext>
            </a:extLst>
          </p:cNvPr>
          <p:cNvGrpSpPr/>
          <p:nvPr/>
        </p:nvGrpSpPr>
        <p:grpSpPr>
          <a:xfrm>
            <a:off x="8296007" y="10864091"/>
            <a:ext cx="2278381" cy="1859740"/>
            <a:chOff x="4343368" y="4090719"/>
            <a:chExt cx="2278381" cy="1859740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6E57C04-B3FE-D13E-5CD0-087008E9EF3F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D8329F2A-093C-1E0B-AEED-FD727C474068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50948B93-366A-4402-5849-A2A2084960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44" name="Graphic 143" descr="Tools with solid fill">
                <a:extLst>
                  <a:ext uri="{FF2B5EF4-FFF2-40B4-BE49-F238E27FC236}">
                    <a16:creationId xmlns:a16="http://schemas.microsoft.com/office/drawing/2014/main" id="{CD1F06B8-0261-9CE6-876F-C37C3EC07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C3D7CE6-8C4C-D731-0594-67E29779469D}"/>
              </a:ext>
            </a:extLst>
          </p:cNvPr>
          <p:cNvGrpSpPr/>
          <p:nvPr/>
        </p:nvGrpSpPr>
        <p:grpSpPr>
          <a:xfrm>
            <a:off x="163904" y="17633151"/>
            <a:ext cx="1975218" cy="2119058"/>
            <a:chOff x="581891" y="4090719"/>
            <a:chExt cx="1975218" cy="2119058"/>
          </a:xfrm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4389D7A-8E26-05AB-F927-9F407F2CCCE6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F75989D4-FBFA-792C-B3B8-BA2D1908E00F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BCFAB9B-7F09-8C4A-CAEE-16AD069209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49" name="Graphic 148" descr="Gears with solid fill">
                <a:extLst>
                  <a:ext uri="{FF2B5EF4-FFF2-40B4-BE49-F238E27FC236}">
                    <a16:creationId xmlns:a16="http://schemas.microsoft.com/office/drawing/2014/main" id="{21DC1672-5E29-47A8-3981-5717E2C8CE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2E63D29-3BD9-F2CA-1A4F-1DBD60EE3133}"/>
              </a:ext>
            </a:extLst>
          </p:cNvPr>
          <p:cNvGrpSpPr/>
          <p:nvPr/>
        </p:nvGrpSpPr>
        <p:grpSpPr>
          <a:xfrm>
            <a:off x="5721336" y="13464523"/>
            <a:ext cx="1975217" cy="2119058"/>
            <a:chOff x="6512876" y="4090719"/>
            <a:chExt cx="1975217" cy="2119058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7B50A14-CEC9-DAC6-8063-B9D0A9F5B74B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60FA6F60-A13D-31D6-57D7-0D65918A4BE9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BABB5D75-17D9-85A4-AE45-B079ED4522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54" name="Graphic 153" descr="Programmer male with solid fill">
                <a:extLst>
                  <a:ext uri="{FF2B5EF4-FFF2-40B4-BE49-F238E27FC236}">
                    <a16:creationId xmlns:a16="http://schemas.microsoft.com/office/drawing/2014/main" id="{C091E906-F388-B99C-5776-41CB7E34E8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87697C5D-C4AB-80EA-B664-48B64AB18FE9}"/>
              </a:ext>
            </a:extLst>
          </p:cNvPr>
          <p:cNvSpPr txBox="1">
            <a:spLocks/>
          </p:cNvSpPr>
          <p:nvPr/>
        </p:nvSpPr>
        <p:spPr>
          <a:xfrm>
            <a:off x="2248433" y="-102206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9FF4660-90F0-9A83-3861-7FEA28A943DA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CF114D1-1FFA-D15E-82DF-E51E8D93235B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23B8D310-64A3-FD52-5749-DFC6729D9E48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59" name="Oval 158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F7029457-4EF8-3243-FE6D-C65402EF63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60" name="Graphic 159" descr="Workflow with solid fill">
                <a:extLst>
                  <a:ext uri="{FF2B5EF4-FFF2-40B4-BE49-F238E27FC236}">
                    <a16:creationId xmlns:a16="http://schemas.microsoft.com/office/drawing/2014/main" id="{743EBBF2-6893-EBB3-7977-64AE82ECFA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5B22C28-E342-1AE6-B6DC-DDF45E3D1F32}"/>
              </a:ext>
            </a:extLst>
          </p:cNvPr>
          <p:cNvGrpSpPr/>
          <p:nvPr/>
        </p:nvGrpSpPr>
        <p:grpSpPr>
          <a:xfrm>
            <a:off x="2931929" y="15492772"/>
            <a:ext cx="1762298" cy="2094290"/>
            <a:chOff x="2657265" y="4090719"/>
            <a:chExt cx="1762298" cy="2094290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C6C9AC94-E2E7-164D-ED3C-47DBB3A55FB7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D597F434-3815-AA70-4BDF-420696E31018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64" name="Oval 163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65DA2AD1-D1EC-4988-57A4-7581C8F978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65" name="Graphic 164" descr="Workflow with solid fill">
                <a:extLst>
                  <a:ext uri="{FF2B5EF4-FFF2-40B4-BE49-F238E27FC236}">
                    <a16:creationId xmlns:a16="http://schemas.microsoft.com/office/drawing/2014/main" id="{5A2B084F-ED39-D253-7EB2-9A3559B57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9389C34-2CEE-0E56-024A-A53016FCD309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863E3C-CE2F-86CD-66E4-CAC3443A896D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10B6C28-2C4B-384C-156B-3227FAC824D5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F19E865-6C89-25EF-5D01-58436972D8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9" name="Graphic 8" descr="Circles with arrows with solid fill">
                <a:extLst>
                  <a:ext uri="{FF2B5EF4-FFF2-40B4-BE49-F238E27FC236}">
                    <a16:creationId xmlns:a16="http://schemas.microsoft.com/office/drawing/2014/main" id="{9ECC1788-05EB-8E57-899C-13F602629B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80B2454-54A0-2CB0-C470-4568D0EB53BA}"/>
              </a:ext>
            </a:extLst>
          </p:cNvPr>
          <p:cNvSpPr txBox="1"/>
          <p:nvPr/>
        </p:nvSpPr>
        <p:spPr>
          <a:xfrm>
            <a:off x="3779514" y="14754910"/>
            <a:ext cx="2721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safe, organized, and efficient routing of power and signal lines in our machine environments.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7319DF-A7B4-138F-9543-4A7D69A10C8C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7E7DDC-8F58-F81D-4562-CA0D68D2BFC9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AC2BCD-1BF0-5869-E6F7-1C058DA03D24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14" name="Oval 13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ADB80F6D-297D-7FC5-3F93-D270C2ABEF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5" name="Graphic 14" descr="Circles with arrows with solid fill">
                <a:extLst>
                  <a:ext uri="{FF2B5EF4-FFF2-40B4-BE49-F238E27FC236}">
                    <a16:creationId xmlns:a16="http://schemas.microsoft.com/office/drawing/2014/main" id="{A25B1817-F12E-BD2B-9B2A-A464D934B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CED45BB-28D2-8044-8B62-883504366561}"/>
              </a:ext>
            </a:extLst>
          </p:cNvPr>
          <p:cNvSpPr txBox="1"/>
          <p:nvPr/>
        </p:nvSpPr>
        <p:spPr>
          <a:xfrm>
            <a:off x="7661909" y="19708489"/>
            <a:ext cx="4438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Component Dissection &amp; Analysis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Documentation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Planning &amp; Organization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SAP Exposure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5. Coordination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F5FB5C-DD44-8C1B-D6E9-63F4B09C14AE}"/>
              </a:ext>
            </a:extLst>
          </p:cNvPr>
          <p:cNvSpPr txBox="1"/>
          <p:nvPr/>
        </p:nvSpPr>
        <p:spPr>
          <a:xfrm>
            <a:off x="488779" y="14966957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floor wiring diagram shows the layout of electrical cables and components across the machine.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13EFAC-E1CF-9415-7999-0C17E604045A}"/>
              </a:ext>
            </a:extLst>
          </p:cNvPr>
          <p:cNvSpPr txBox="1"/>
          <p:nvPr/>
        </p:nvSpPr>
        <p:spPr>
          <a:xfrm>
            <a:off x="7777112" y="17619250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Diagnosis</a:t>
            </a:r>
          </a:p>
        </p:txBody>
      </p:sp>
    </p:spTree>
    <p:extLst>
      <p:ext uri="{BB962C8B-B14F-4D97-AF65-F5344CB8AC3E}">
        <p14:creationId xmlns:p14="http://schemas.microsoft.com/office/powerpoint/2010/main" val="4041439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46AED-C149-4A40-9EBE-2E57BC0B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493CE48C-6C47-B7FF-562B-9A3C5DA91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6BA8969E-0003-08B3-0D06-1C72A47E9906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3007EAB-A928-0062-500D-A7BE065325FB}"/>
              </a:ext>
            </a:extLst>
          </p:cNvPr>
          <p:cNvSpPr txBox="1">
            <a:spLocks/>
          </p:cNvSpPr>
          <p:nvPr/>
        </p:nvSpPr>
        <p:spPr>
          <a:xfrm>
            <a:off x="1768707" y="376776"/>
            <a:ext cx="555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Floor Wiring Diagram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EF504902-31E4-5D54-85A4-44A5711FD2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7B5FB443-4D34-30E8-D56F-216237382A0F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43D1B5D-7B88-B1B0-6118-5D4BA51F9CBD}"/>
              </a:ext>
            </a:extLst>
          </p:cNvPr>
          <p:cNvSpPr txBox="1"/>
          <p:nvPr/>
        </p:nvSpPr>
        <p:spPr>
          <a:xfrm>
            <a:off x="3753463" y="4264959"/>
            <a:ext cx="2721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safe, organized, and efficient routing of power and signal lines in our machine environments.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4B9EB6C-63AD-81F5-A3B7-9B92A8CB9779}"/>
              </a:ext>
            </a:extLst>
          </p:cNvPr>
          <p:cNvSpPr txBox="1"/>
          <p:nvPr/>
        </p:nvSpPr>
        <p:spPr>
          <a:xfrm>
            <a:off x="6990178" y="4277352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Diagnosis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D2B04B8-9E3C-1888-8586-584F5C3AAE83}"/>
              </a:ext>
            </a:extLst>
          </p:cNvPr>
          <p:cNvSpPr txBox="1"/>
          <p:nvPr/>
        </p:nvSpPr>
        <p:spPr>
          <a:xfrm>
            <a:off x="147386" y="4212454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floor wiring diagram shows the layout of electrical cables and components across the machine.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9B417-9DC2-8017-D97F-EBC86068A5A9}"/>
              </a:ext>
            </a:extLst>
          </p:cNvPr>
          <p:cNvSpPr/>
          <p:nvPr/>
        </p:nvSpPr>
        <p:spPr>
          <a:xfrm>
            <a:off x="-10328025" y="487087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CC9424D-C4E8-076B-6AD5-0344073A4ED7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8FAEFA8B-E750-C91D-00F4-85DDA8E51BAF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" name="Graphic 28" descr="Lightbulb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FA9F150D-3717-622B-99E9-96299A773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5CC429-1D3F-0FBA-4217-D02B4F15FEF1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EE2AA24-8414-20CB-5989-8C88A5984FE2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14249E09-96A2-D4B1-CCC8-09FBF1580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EFE83D3-7750-725B-A92C-EFCE8BC37939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0860D6D-0ADE-DDFE-6C69-4C648D84AED3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3A8292D9-83FA-FE62-6585-4C8A6A55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326EAA4-6389-79C1-8B1B-04C8385FC874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BADF77E-C3BF-B9D0-CB38-B1F17FD35DBD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FC6D403-97C2-DF12-FE5E-17838B574753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EB8A39C-CDD5-6C3D-2111-58AC1C729085}"/>
              </a:ext>
            </a:extLst>
          </p:cNvPr>
          <p:cNvSpPr/>
          <p:nvPr/>
        </p:nvSpPr>
        <p:spPr>
          <a:xfrm>
            <a:off x="-10021993" y="4382148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8C4D4F-4E81-139C-3F08-D9E85A8F9DB5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C78E39-7D8A-6451-DDA4-C844D32516C1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6A10A89-B9B9-7911-10E2-97920BB1C8D5}"/>
              </a:ext>
            </a:extLst>
          </p:cNvPr>
          <p:cNvSpPr txBox="1">
            <a:spLocks/>
          </p:cNvSpPr>
          <p:nvPr/>
        </p:nvSpPr>
        <p:spPr>
          <a:xfrm>
            <a:off x="-13525089" y="0"/>
            <a:ext cx="427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Circuit Diagram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F6B6C36-E7E5-5A14-4677-AA8EF0823A07}"/>
              </a:ext>
            </a:extLst>
          </p:cNvPr>
          <p:cNvSpPr txBox="1"/>
          <p:nvPr/>
        </p:nvSpPr>
        <p:spPr>
          <a:xfrm>
            <a:off x="3902871" y="11949154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This visual clarity is crucial for accurate, safe &amp; confusion free design, wiring, troubleshooting &amp; Maintenance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B700E09-AB32-F1EF-7996-B3C4DE29E6C2}"/>
              </a:ext>
            </a:extLst>
          </p:cNvPr>
          <p:cNvSpPr txBox="1"/>
          <p:nvPr/>
        </p:nvSpPr>
        <p:spPr>
          <a:xfrm>
            <a:off x="7753349" y="13703480"/>
            <a:ext cx="4086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Reading &amp; Interpretation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Software Exposure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6309FF8-99A2-C069-082A-E55F0501B86D}"/>
              </a:ext>
            </a:extLst>
          </p:cNvPr>
          <p:cNvSpPr txBox="1"/>
          <p:nvPr/>
        </p:nvSpPr>
        <p:spPr>
          <a:xfrm>
            <a:off x="0" y="10781696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Circuit diagram is a visual representation of the Electrical System, components &amp; Interconnections through standardized electrical Symbol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43D496D-1AB8-A226-EE90-C50E8116F9A5}"/>
              </a:ext>
            </a:extLst>
          </p:cNvPr>
          <p:cNvSpPr txBox="1">
            <a:spLocks/>
          </p:cNvSpPr>
          <p:nvPr/>
        </p:nvSpPr>
        <p:spPr>
          <a:xfrm>
            <a:off x="3828808" y="-5032702"/>
            <a:ext cx="460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Various Processes &amp; Parameter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3B824C9-0429-F0EF-5AF2-B8E47C4D2F40}"/>
              </a:ext>
            </a:extLst>
          </p:cNvPr>
          <p:cNvSpPr txBox="1"/>
          <p:nvPr/>
        </p:nvSpPr>
        <p:spPr>
          <a:xfrm>
            <a:off x="3602028" y="14070292"/>
            <a:ext cx="2574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makes sure the Optimal Machine Performance, Product Quality, Safe Operations.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9358347-B602-1AD1-9FCF-21F80EF01D42}"/>
              </a:ext>
            </a:extLst>
          </p:cNvPr>
          <p:cNvSpPr txBox="1"/>
          <p:nvPr/>
        </p:nvSpPr>
        <p:spPr>
          <a:xfrm>
            <a:off x="7297736" y="15547620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Parameter Setting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Real Time Monitoring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Detection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Optimization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Sensor Feedback Analysis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D23FFDF-5AF7-B4B8-5BD2-14092CD7E88D}"/>
              </a:ext>
            </a:extLst>
          </p:cNvPr>
          <p:cNvSpPr txBox="1"/>
          <p:nvPr/>
        </p:nvSpPr>
        <p:spPr>
          <a:xfrm>
            <a:off x="-136353" y="12687817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Processes &amp; Parameter are the key settings like Speed, Tension, Temperature and Pressure that controls machine operation.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4EA5315-D2BC-826A-BB75-176167853A91}"/>
              </a:ext>
            </a:extLst>
          </p:cNvPr>
          <p:cNvGrpSpPr/>
          <p:nvPr/>
        </p:nvGrpSpPr>
        <p:grpSpPr>
          <a:xfrm>
            <a:off x="3126955" y="-6418070"/>
            <a:ext cx="1762298" cy="2231438"/>
            <a:chOff x="2657265" y="1443842"/>
            <a:chExt cx="1762298" cy="2231438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4891B67-196A-B9CE-8451-0BAB4DA83ABE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34BA15A9-DBE2-C397-DA80-7A27766E71A5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12CDA35D-4BFA-99CA-CB10-526DFB3CD2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23" name="Graphic 122" descr="Processor with solid fill">
                <a:extLst>
                  <a:ext uri="{FF2B5EF4-FFF2-40B4-BE49-F238E27FC236}">
                    <a16:creationId xmlns:a16="http://schemas.microsoft.com/office/drawing/2014/main" id="{639294F7-3D40-640C-EF17-5F6B7E4170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67B697CC-637E-AFA5-DAD1-054A6EBAB860}"/>
              </a:ext>
            </a:extLst>
          </p:cNvPr>
          <p:cNvGrpSpPr/>
          <p:nvPr/>
        </p:nvGrpSpPr>
        <p:grpSpPr>
          <a:xfrm>
            <a:off x="999113" y="-4399037"/>
            <a:ext cx="1762298" cy="2282369"/>
            <a:chOff x="729459" y="1443842"/>
            <a:chExt cx="1762298" cy="2282369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DEC35D7-DFE0-E666-44C3-F28C677790BF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BF42528-74D5-7821-7633-C515991EDACF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118EAD33-B00A-1C19-F469-6014525BE91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28" name="Graphic 127" descr="Transfer1 with solid fill">
                <a:extLst>
                  <a:ext uri="{FF2B5EF4-FFF2-40B4-BE49-F238E27FC236}">
                    <a16:creationId xmlns:a16="http://schemas.microsoft.com/office/drawing/2014/main" id="{91AA25F6-6E90-4891-F418-5E8F6C7E2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A66C2E3-3A79-2B87-8A92-FF02ABCE1A26}"/>
              </a:ext>
            </a:extLst>
          </p:cNvPr>
          <p:cNvGrpSpPr/>
          <p:nvPr/>
        </p:nvGrpSpPr>
        <p:grpSpPr>
          <a:xfrm>
            <a:off x="5675396" y="-8525260"/>
            <a:ext cx="1762298" cy="2249120"/>
            <a:chOff x="4585071" y="1443842"/>
            <a:chExt cx="1762298" cy="2249120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758CC97-F57E-75B4-1AE6-2D4B0DAD8B44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07638D3F-AADB-5057-E853-A30D08330EF2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8FB0DF12-6935-6102-C892-0E1177371E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33" name="Graphic 132" descr="Plug with solid fill">
                <a:extLst>
                  <a:ext uri="{FF2B5EF4-FFF2-40B4-BE49-F238E27FC236}">
                    <a16:creationId xmlns:a16="http://schemas.microsoft.com/office/drawing/2014/main" id="{C286E44A-ED4E-D2F2-1E06-E21B44249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D6A49E2-66F2-DB3B-96A1-7489C2189B92}"/>
              </a:ext>
            </a:extLst>
          </p:cNvPr>
          <p:cNvGrpSpPr/>
          <p:nvPr/>
        </p:nvGrpSpPr>
        <p:grpSpPr>
          <a:xfrm>
            <a:off x="3054166" y="15386461"/>
            <a:ext cx="1762298" cy="2094290"/>
            <a:chOff x="2657265" y="4090719"/>
            <a:chExt cx="1762298" cy="2094290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794C65E-36BF-3ACC-E8A6-E42987D63A0F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83793756-A19C-BD66-D48D-5C1E53B17C06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06A5A48B-DD28-D347-59D2-8201CD83A9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38" name="Graphic 137" descr="Workflow with solid fill">
                <a:extLst>
                  <a:ext uri="{FF2B5EF4-FFF2-40B4-BE49-F238E27FC236}">
                    <a16:creationId xmlns:a16="http://schemas.microsoft.com/office/drawing/2014/main" id="{D9D7BDBE-534A-4264-9080-1CB5E2D3CF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E916129-63CB-36CB-1B6A-50474038B99E}"/>
              </a:ext>
            </a:extLst>
          </p:cNvPr>
          <p:cNvGrpSpPr/>
          <p:nvPr/>
        </p:nvGrpSpPr>
        <p:grpSpPr>
          <a:xfrm>
            <a:off x="8264638" y="-10569523"/>
            <a:ext cx="2318792" cy="2231439"/>
            <a:chOff x="6234630" y="1443842"/>
            <a:chExt cx="2318792" cy="2231439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715F62D2-1750-BDC5-622B-2864D67BA7E7}"/>
                </a:ext>
              </a:extLst>
            </p:cNvPr>
            <p:cNvSpPr txBox="1">
              <a:spLocks/>
            </p:cNvSpPr>
            <p:nvPr/>
          </p:nvSpPr>
          <p:spPr>
            <a:xfrm>
              <a:off x="6234630" y="3028950"/>
              <a:ext cx="2318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4B9AE3AF-8109-6AF4-28AD-D774EBE19C67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E1FE9B85-6150-1ABF-5810-22F60A1CC9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143" name="Graphic 142" descr="Circles with arrows with solid fill">
                <a:extLst>
                  <a:ext uri="{FF2B5EF4-FFF2-40B4-BE49-F238E27FC236}">
                    <a16:creationId xmlns:a16="http://schemas.microsoft.com/office/drawing/2014/main" id="{1A823E51-4C62-7CFF-262B-834F333A9F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1F8D34E-E28B-8392-3B75-5C6FC31F6B8E}"/>
              </a:ext>
            </a:extLst>
          </p:cNvPr>
          <p:cNvGrpSpPr/>
          <p:nvPr/>
        </p:nvGrpSpPr>
        <p:grpSpPr>
          <a:xfrm>
            <a:off x="8143607" y="10711691"/>
            <a:ext cx="2278381" cy="1859740"/>
            <a:chOff x="4343368" y="4090719"/>
            <a:chExt cx="2278381" cy="1859740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4BCE558-C46A-7719-1478-43EBAC111DB1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A14530C1-3CD8-4344-31DC-0E6030F34EB6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1DAA2AF1-0499-4B0D-0710-B1D1BEA24F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48" name="Graphic 147" descr="Tools with solid fill">
                <a:extLst>
                  <a:ext uri="{FF2B5EF4-FFF2-40B4-BE49-F238E27FC236}">
                    <a16:creationId xmlns:a16="http://schemas.microsoft.com/office/drawing/2014/main" id="{722052B6-35D7-E883-776B-D97B5A2D37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238359E-5BAD-1829-45B5-F84E275C3EAC}"/>
              </a:ext>
            </a:extLst>
          </p:cNvPr>
          <p:cNvGrpSpPr/>
          <p:nvPr/>
        </p:nvGrpSpPr>
        <p:grpSpPr>
          <a:xfrm>
            <a:off x="11504" y="17480751"/>
            <a:ext cx="1975218" cy="2119058"/>
            <a:chOff x="581891" y="4090719"/>
            <a:chExt cx="1975218" cy="2119058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8A082D8-966E-BCCD-EBBF-D3A9821C41D1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0F3584A1-7F39-873B-EAB1-04723506B30D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A69F4885-C9DF-F17E-B8CB-E38870EDFB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53" name="Graphic 152" descr="Gears with solid fill">
                <a:extLst>
                  <a:ext uri="{FF2B5EF4-FFF2-40B4-BE49-F238E27FC236}">
                    <a16:creationId xmlns:a16="http://schemas.microsoft.com/office/drawing/2014/main" id="{8064B5BD-F8F4-982F-C779-751D934C4C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7F1BBEB-8EE2-D8CA-EED4-5C065CC5169C}"/>
              </a:ext>
            </a:extLst>
          </p:cNvPr>
          <p:cNvGrpSpPr/>
          <p:nvPr/>
        </p:nvGrpSpPr>
        <p:grpSpPr>
          <a:xfrm>
            <a:off x="5568936" y="13312123"/>
            <a:ext cx="1975217" cy="2119058"/>
            <a:chOff x="6512876" y="4090719"/>
            <a:chExt cx="1975217" cy="2119058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538BAD0-B8CD-1935-176B-234D540A7016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AA7DB5F-6233-81FF-B4EC-CAEB62AEF96D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3B5EE595-936D-D8AD-3408-09E8EBA07C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58" name="Graphic 157" descr="Programmer male with solid fill">
                <a:extLst>
                  <a:ext uri="{FF2B5EF4-FFF2-40B4-BE49-F238E27FC236}">
                    <a16:creationId xmlns:a16="http://schemas.microsoft.com/office/drawing/2014/main" id="{C15A9D79-F6F8-B7A8-F7FE-3F0DCCABBE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8624F96B-08E5-A4EF-A316-7C48A4F2B7F0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0D51333-8BA6-0880-79AC-E2CEF2A91F79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69E7EE71-B753-FDA4-763C-A19D4E09D741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87514E14-FDAD-817D-A920-79513ECC9BDC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63" name="Oval 162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07517F9D-71BA-0F58-7570-E141DC025D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64" name="Graphic 163" descr="Workflow with solid fill">
                <a:extLst>
                  <a:ext uri="{FF2B5EF4-FFF2-40B4-BE49-F238E27FC236}">
                    <a16:creationId xmlns:a16="http://schemas.microsoft.com/office/drawing/2014/main" id="{FC2A8571-AB5A-8006-7AA9-AC90FC2327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26A7D56-8E97-7B9F-5152-5C0B98CCA6AE}"/>
              </a:ext>
            </a:extLst>
          </p:cNvPr>
          <p:cNvGrpSpPr/>
          <p:nvPr/>
        </p:nvGrpSpPr>
        <p:grpSpPr>
          <a:xfrm>
            <a:off x="2931929" y="15492772"/>
            <a:ext cx="1762298" cy="2094290"/>
            <a:chOff x="2657265" y="4090719"/>
            <a:chExt cx="1762298" cy="2094290"/>
          </a:xfrm>
        </p:grpSpPr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268728EC-0D19-CFF3-3B58-40A779165884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3BFDDB2E-A029-10AE-A220-AB2F2A738DF6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68" name="Oval 167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F51BEACB-ACD7-172D-CAEB-628D01EC47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69" name="Graphic 168" descr="Workflow with solid fill">
                <a:extLst>
                  <a:ext uri="{FF2B5EF4-FFF2-40B4-BE49-F238E27FC236}">
                    <a16:creationId xmlns:a16="http://schemas.microsoft.com/office/drawing/2014/main" id="{BD498857-E5E4-37A2-3EC3-F0152EF65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0FA6B9E-6162-7664-979F-3D1D6F10BA09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4B3E68-EB59-9B7D-2426-F422058E7830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D982ABA-781C-1965-698C-52FE38309F50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FA9F24E-036B-F064-B770-BEE4B854CE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" name="Graphic 7" descr="Circles with arrows with solid fill">
                <a:extLst>
                  <a:ext uri="{FF2B5EF4-FFF2-40B4-BE49-F238E27FC236}">
                    <a16:creationId xmlns:a16="http://schemas.microsoft.com/office/drawing/2014/main" id="{A4518F49-59DD-7ECB-C5F3-EC4364783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B459209-658C-68BE-3196-A43591F908D1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FCE9FE5-E830-CC6E-BEBB-469207CB5179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747A10-3707-167C-DDD7-10D4220C479E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12" name="Oval 11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2815B2B8-6DB6-BF43-4E6F-EFF24201D4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3" name="Graphic 12" descr="Circles with arrows with solid fill">
                <a:extLst>
                  <a:ext uri="{FF2B5EF4-FFF2-40B4-BE49-F238E27FC236}">
                    <a16:creationId xmlns:a16="http://schemas.microsoft.com/office/drawing/2014/main" id="{ED68EE6B-4B9F-41B8-FD91-266D2554C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D917DEB-38F3-A531-1EE9-1DAC90C88565}"/>
              </a:ext>
            </a:extLst>
          </p:cNvPr>
          <p:cNvSpPr txBox="1"/>
          <p:nvPr/>
        </p:nvSpPr>
        <p:spPr>
          <a:xfrm>
            <a:off x="7344709" y="19276643"/>
            <a:ext cx="4388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Symbol Recognition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Technical Drawing Reading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Panel Wiring Understanding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E-Plan Exposure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F2227A-F8BC-8C3F-AE1B-CE647063EB2F}"/>
              </a:ext>
            </a:extLst>
          </p:cNvPr>
          <p:cNvSpPr txBox="1"/>
          <p:nvPr/>
        </p:nvSpPr>
        <p:spPr>
          <a:xfrm>
            <a:off x="3563883" y="14549575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This visual clarity is crucial for accurate, safe &amp; error free design, wiring, troubleshooting &amp; Maintenance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7DF78-FD92-BCC3-893A-280AFF07B46B}"/>
              </a:ext>
            </a:extLst>
          </p:cNvPr>
          <p:cNvSpPr txBox="1"/>
          <p:nvPr/>
        </p:nvSpPr>
        <p:spPr>
          <a:xfrm>
            <a:off x="-50278" y="12881954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Processes &amp; Parameter are the key settings like Speed, Tension, Temperature and Pressure that controls Operational Flow of the Machine.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F8F853-5E8C-1424-385E-E437B3338CF1}"/>
              </a:ext>
            </a:extLst>
          </p:cNvPr>
          <p:cNvSpPr txBox="1"/>
          <p:nvPr/>
        </p:nvSpPr>
        <p:spPr>
          <a:xfrm>
            <a:off x="7252626" y="15612898"/>
            <a:ext cx="3953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Parameter Setting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Real Time Monitoring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Detection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Optimization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Sensor Feedback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3019788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F82D-3D82-7EA2-5C6B-D17551DD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DD5F4112-FD26-5072-C5E3-0013D4B71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7E3773C-D56A-3178-4E5D-164D07F47A49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F4380A-731B-7CC2-BB1F-9B8EB0C49F0A}"/>
              </a:ext>
            </a:extLst>
          </p:cNvPr>
          <p:cNvSpPr txBox="1">
            <a:spLocks/>
          </p:cNvSpPr>
          <p:nvPr/>
        </p:nvSpPr>
        <p:spPr>
          <a:xfrm>
            <a:off x="2220162" y="226894"/>
            <a:ext cx="4846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Various Processes &amp; Parameter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E2CA09CF-BA0A-4178-0AB0-6E33AEFEAB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AD331664-8D45-676D-D567-22CB65FB503E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67BFA9D-1CF8-30B6-560C-E1F0C556CF50}"/>
              </a:ext>
            </a:extLst>
          </p:cNvPr>
          <p:cNvSpPr txBox="1"/>
          <p:nvPr/>
        </p:nvSpPr>
        <p:spPr>
          <a:xfrm>
            <a:off x="3753463" y="4264959"/>
            <a:ext cx="2574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makes sure the Optimal Machine Performance, Product Quality, Safe Operations.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BB94C62-CAD4-03F3-E30B-9BC09E45812D}"/>
              </a:ext>
            </a:extLst>
          </p:cNvPr>
          <p:cNvSpPr txBox="1"/>
          <p:nvPr/>
        </p:nvSpPr>
        <p:spPr>
          <a:xfrm>
            <a:off x="6990177" y="4277352"/>
            <a:ext cx="3953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Parameter Setting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Real Time Monitoring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Detection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Optimization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Sensor Feedback &amp; Analysis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F553799-7240-5E62-9B47-620D1ACA8784}"/>
              </a:ext>
            </a:extLst>
          </p:cNvPr>
          <p:cNvSpPr txBox="1"/>
          <p:nvPr/>
        </p:nvSpPr>
        <p:spPr>
          <a:xfrm>
            <a:off x="147386" y="4212454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Processes &amp; Parameter are the key settings like Speed, Tension, Temperature and Pressure that controls Operational Flow of the Machine.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068007-BCA7-B08C-619E-930D8B8119EC}"/>
              </a:ext>
            </a:extLst>
          </p:cNvPr>
          <p:cNvSpPr/>
          <p:nvPr/>
        </p:nvSpPr>
        <p:spPr>
          <a:xfrm>
            <a:off x="-10328025" y="487087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CDADE7A-8071-F643-13A7-8EEE4C5ACF8B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62C104CF-F200-7371-9010-6379FF7BC8A0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" name="Graphic 28" descr="Lightbulb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E7694B5B-4A5F-3109-9BC6-F0C9AD9AF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614A37F-47A0-4906-EC4B-E7C34B9D27F1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20EC549-067C-C3C0-055A-51BB6539866A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73AF1E1C-C793-6D71-1369-2B26A99F0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AD1E9E4-BF9C-7921-E2CF-57F2628478CE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ABC7D2-A28D-3EFD-D872-0EB616236C50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E84B8A04-C4A0-2E01-844E-33CE5D644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0ABBCA5-737E-7749-DE21-CEA3182D857B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11811AB-F521-E03C-52F8-80ACB237CC2D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0AE2479-4B18-1945-059D-3AA6B514DAE4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AC4082B-51EA-BF6E-7605-4D7B16B5D923}"/>
              </a:ext>
            </a:extLst>
          </p:cNvPr>
          <p:cNvSpPr/>
          <p:nvPr/>
        </p:nvSpPr>
        <p:spPr>
          <a:xfrm>
            <a:off x="-10021993" y="4382148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2D3F2B-C316-6CC8-6E60-DFDF53DC30B5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C4C7BE-503C-0922-12B3-8E8FFD6D12DB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4B42D-609E-CC17-4B2B-4C68DF403112}"/>
              </a:ext>
            </a:extLst>
          </p:cNvPr>
          <p:cNvSpPr txBox="1">
            <a:spLocks/>
          </p:cNvSpPr>
          <p:nvPr/>
        </p:nvSpPr>
        <p:spPr>
          <a:xfrm>
            <a:off x="-14810548" y="361471"/>
            <a:ext cx="555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Floor Wiring Diagram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6E819-B5DB-5B4A-9A3B-34EAC644AE97}"/>
              </a:ext>
            </a:extLst>
          </p:cNvPr>
          <p:cNvSpPr txBox="1"/>
          <p:nvPr/>
        </p:nvSpPr>
        <p:spPr>
          <a:xfrm>
            <a:off x="8743960" y="14930910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Checking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72F19D-E86F-F332-BB54-84F648A1C3E9}"/>
              </a:ext>
            </a:extLst>
          </p:cNvPr>
          <p:cNvSpPr txBox="1"/>
          <p:nvPr/>
        </p:nvSpPr>
        <p:spPr>
          <a:xfrm>
            <a:off x="-136353" y="11422258"/>
            <a:ext cx="3214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floor wiring diagram shows the layout of electrical cables and components across the machine or workspace floor.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46578A-8DC6-6072-C8CC-FA93DDC4E0ED}"/>
              </a:ext>
            </a:extLst>
          </p:cNvPr>
          <p:cNvSpPr txBox="1">
            <a:spLocks/>
          </p:cNvSpPr>
          <p:nvPr/>
        </p:nvSpPr>
        <p:spPr>
          <a:xfrm>
            <a:off x="2220162" y="-5804129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Drive Configuration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CE85A-56F1-D2B5-78C9-E4F29DF4F871}"/>
              </a:ext>
            </a:extLst>
          </p:cNvPr>
          <p:cNvSpPr txBox="1"/>
          <p:nvPr/>
        </p:nvSpPr>
        <p:spPr>
          <a:xfrm>
            <a:off x="2565938" y="13304241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allows precise Automation, Energy Efficiency &amp; Protection of Motor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During the Machine Operation.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13E471-CCB8-E407-F658-AD26A1F4E245}"/>
              </a:ext>
            </a:extLst>
          </p:cNvPr>
          <p:cNvSpPr txBox="1"/>
          <p:nvPr/>
        </p:nvSpPr>
        <p:spPr>
          <a:xfrm>
            <a:off x="8410921" y="13272222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1976FE-1F2D-0873-1A18-94D04C575A4E}"/>
              </a:ext>
            </a:extLst>
          </p:cNvPr>
          <p:cNvSpPr txBox="1"/>
          <p:nvPr/>
        </p:nvSpPr>
        <p:spPr>
          <a:xfrm>
            <a:off x="-753930" y="12900144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Setting up the VFD.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Which allows Us to control Motor Speed,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Torque &amp; Direction.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786825-95C3-7B3D-F3F8-B7B9D80B978A}"/>
              </a:ext>
            </a:extLst>
          </p:cNvPr>
          <p:cNvGrpSpPr/>
          <p:nvPr/>
        </p:nvGrpSpPr>
        <p:grpSpPr>
          <a:xfrm>
            <a:off x="3126955" y="-6418070"/>
            <a:ext cx="1762298" cy="2231438"/>
            <a:chOff x="2657265" y="1443842"/>
            <a:chExt cx="1762298" cy="223143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52D1AC-8B50-DDC8-F7FB-5457FBD1872C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B57068B-F234-2F58-B4B9-AC3E271C32D7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1F3DCFB-7271-61D9-9199-5A2EE26036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1" name="Graphic 20" descr="Processor with solid fill">
                <a:extLst>
                  <a:ext uri="{FF2B5EF4-FFF2-40B4-BE49-F238E27FC236}">
                    <a16:creationId xmlns:a16="http://schemas.microsoft.com/office/drawing/2014/main" id="{2C2D835C-D4F7-8CAE-C954-BB202A4EA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3D3819-2E82-E989-9017-0E74261DDA9D}"/>
              </a:ext>
            </a:extLst>
          </p:cNvPr>
          <p:cNvGrpSpPr/>
          <p:nvPr/>
        </p:nvGrpSpPr>
        <p:grpSpPr>
          <a:xfrm>
            <a:off x="999113" y="-4399037"/>
            <a:ext cx="1762298" cy="2282369"/>
            <a:chOff x="729459" y="1443842"/>
            <a:chExt cx="1762298" cy="228236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F6D1A9-2FE6-AFDE-3A82-8797CDAB28DF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C1E9F91-7A7C-CEDD-FCCD-136AE90E1201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FF41F6E-397B-0C1B-1225-003944871F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30" name="Graphic 29" descr="Transfer1 with solid fill">
                <a:extLst>
                  <a:ext uri="{FF2B5EF4-FFF2-40B4-BE49-F238E27FC236}">
                    <a16:creationId xmlns:a16="http://schemas.microsoft.com/office/drawing/2014/main" id="{BCAD810A-B9D7-27A8-EAF8-2C5CB2F3FD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E2C3994-0277-224D-E35B-426AB0207E84}"/>
              </a:ext>
            </a:extLst>
          </p:cNvPr>
          <p:cNvGrpSpPr/>
          <p:nvPr/>
        </p:nvGrpSpPr>
        <p:grpSpPr>
          <a:xfrm>
            <a:off x="5675396" y="-8525260"/>
            <a:ext cx="1762298" cy="2249120"/>
            <a:chOff x="4585071" y="1443842"/>
            <a:chExt cx="1762298" cy="224912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EB4E273-2EDC-D55A-68D6-E31B28D38C32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838A926-BB93-041E-4C54-C45080827A50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8DFF8C4-E683-E368-C5CA-0328B1B9C1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0" name="Graphic 39" descr="Plug with solid fill">
                <a:extLst>
                  <a:ext uri="{FF2B5EF4-FFF2-40B4-BE49-F238E27FC236}">
                    <a16:creationId xmlns:a16="http://schemas.microsoft.com/office/drawing/2014/main" id="{47C51823-1246-CB18-F7DD-0526B756DE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9E8F951-57B3-1C30-2EFF-D6066C82618E}"/>
              </a:ext>
            </a:extLst>
          </p:cNvPr>
          <p:cNvGrpSpPr/>
          <p:nvPr/>
        </p:nvGrpSpPr>
        <p:grpSpPr>
          <a:xfrm>
            <a:off x="3054166" y="15386461"/>
            <a:ext cx="1762298" cy="2094290"/>
            <a:chOff x="2657265" y="4090719"/>
            <a:chExt cx="1762298" cy="209429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36F562E-840E-34D4-1536-13E71C9B3E25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C9083FE-A94F-B850-89A2-5ED5C7D315E1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DE23569-6594-445E-2DD0-32BA57B641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9" name="Graphic 48" descr="Workflow with solid fill">
                <a:extLst>
                  <a:ext uri="{FF2B5EF4-FFF2-40B4-BE49-F238E27FC236}">
                    <a16:creationId xmlns:a16="http://schemas.microsoft.com/office/drawing/2014/main" id="{E1C5E6A8-EB84-1B8C-3E1F-F38294B129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804743B-AB11-223C-483E-084E08C8749C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7993225-5FBC-CC99-A9BE-661EB37FD161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178D210-BAA4-A55B-A422-DFCF479F20A1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997966E2-C298-8CA7-9A7F-1AFEA61FD8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54" name="Graphic 53" descr="Circles with arrows with solid fill">
                <a:extLst>
                  <a:ext uri="{FF2B5EF4-FFF2-40B4-BE49-F238E27FC236}">
                    <a16:creationId xmlns:a16="http://schemas.microsoft.com/office/drawing/2014/main" id="{91BFBE6F-006E-1B81-7909-5EEDD631F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40D0C61-D256-E044-B8BE-1BAFA7F5F954}"/>
              </a:ext>
            </a:extLst>
          </p:cNvPr>
          <p:cNvGrpSpPr/>
          <p:nvPr/>
        </p:nvGrpSpPr>
        <p:grpSpPr>
          <a:xfrm>
            <a:off x="8143607" y="10711691"/>
            <a:ext cx="2278381" cy="1859740"/>
            <a:chOff x="4343368" y="4090719"/>
            <a:chExt cx="2278381" cy="1859740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00168F9-9F4C-4675-BBCF-BE5AF250F12F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E63A7D3-D308-6297-4D28-3818FED16721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9F37616-65EB-9B2E-2674-64AA8590B6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9" name="Graphic 58" descr="Tools with solid fill">
                <a:extLst>
                  <a:ext uri="{FF2B5EF4-FFF2-40B4-BE49-F238E27FC236}">
                    <a16:creationId xmlns:a16="http://schemas.microsoft.com/office/drawing/2014/main" id="{54FB1684-7AB6-7CC3-77D8-B195F99BD0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20D17EA-CE0B-098A-4B91-C63283E67FB2}"/>
              </a:ext>
            </a:extLst>
          </p:cNvPr>
          <p:cNvGrpSpPr/>
          <p:nvPr/>
        </p:nvGrpSpPr>
        <p:grpSpPr>
          <a:xfrm>
            <a:off x="11504" y="17480751"/>
            <a:ext cx="1975218" cy="2119058"/>
            <a:chOff x="581891" y="4090719"/>
            <a:chExt cx="1975218" cy="2119058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5C70D5C-0C45-D540-6BB5-E3A251662A47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33F3EE2-93C5-73DB-44EA-42F17183CD9E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0719602-1261-B787-FD85-A90A0AA8DC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4" name="Graphic 63" descr="Gears with solid fill">
                <a:extLst>
                  <a:ext uri="{FF2B5EF4-FFF2-40B4-BE49-F238E27FC236}">
                    <a16:creationId xmlns:a16="http://schemas.microsoft.com/office/drawing/2014/main" id="{2E77CC77-9BCA-B36F-A022-4A2A77BDF0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587464E-8F91-6513-2C8E-24B06A9CB1F1}"/>
              </a:ext>
            </a:extLst>
          </p:cNvPr>
          <p:cNvGrpSpPr/>
          <p:nvPr/>
        </p:nvGrpSpPr>
        <p:grpSpPr>
          <a:xfrm>
            <a:off x="5568936" y="13312123"/>
            <a:ext cx="1975217" cy="2119058"/>
            <a:chOff x="6512876" y="4090719"/>
            <a:chExt cx="1975217" cy="211905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F6973F7-8EBF-F728-939E-A10339E5C3B4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DBBD85B-81D7-4C75-827E-1738AD98830F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0B4802C-9909-C4A6-58AB-F65133255F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9" name="Graphic 68" descr="Programmer male with solid fill">
                <a:extLst>
                  <a:ext uri="{FF2B5EF4-FFF2-40B4-BE49-F238E27FC236}">
                    <a16:creationId xmlns:a16="http://schemas.microsoft.com/office/drawing/2014/main" id="{95B8BFC9-775F-F95D-DB2C-43D19418A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9D57E00C-8AF9-9ACF-1A93-E9E4A842324F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EA0ABF1-35BD-BA92-31B9-3C20BAAA2059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C29F6E6-209C-0350-E3D7-67B62260EB61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01D9AA5-6265-3285-3CBB-1891266B725F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74" name="Oval 73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108CAA33-F92F-806A-75CD-3416AE874CE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75" name="Graphic 74" descr="Workflow with solid fill">
                <a:extLst>
                  <a:ext uri="{FF2B5EF4-FFF2-40B4-BE49-F238E27FC236}">
                    <a16:creationId xmlns:a16="http://schemas.microsoft.com/office/drawing/2014/main" id="{E5E6D6BA-83E0-4C49-D1C4-9935D2BF1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2A8F5ED-6743-C436-D802-E7F1E36B1952}"/>
              </a:ext>
            </a:extLst>
          </p:cNvPr>
          <p:cNvGrpSpPr/>
          <p:nvPr/>
        </p:nvGrpSpPr>
        <p:grpSpPr>
          <a:xfrm>
            <a:off x="2931929" y="15492772"/>
            <a:ext cx="1762298" cy="2094290"/>
            <a:chOff x="2657265" y="4090719"/>
            <a:chExt cx="1762298" cy="209429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A8D738D-2B7F-ABB2-4534-899F1BFCA9BC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02EAA0C7-DD30-CD94-94DC-5D0D1CB2635E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79" name="Oval 78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FEAE88B1-90E1-D44C-4F72-DBE7F0AD54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80" name="Graphic 79" descr="Workflow with solid fill">
                <a:extLst>
                  <a:ext uri="{FF2B5EF4-FFF2-40B4-BE49-F238E27FC236}">
                    <a16:creationId xmlns:a16="http://schemas.microsoft.com/office/drawing/2014/main" id="{62259E34-C00E-F309-B019-F84837CE2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B5D4339-9323-8DEB-4537-15FEB1496924}"/>
              </a:ext>
            </a:extLst>
          </p:cNvPr>
          <p:cNvGrpSpPr/>
          <p:nvPr/>
        </p:nvGrpSpPr>
        <p:grpSpPr>
          <a:xfrm>
            <a:off x="8296007" y="-10417123"/>
            <a:ext cx="2439823" cy="2231439"/>
            <a:chOff x="6113599" y="1443842"/>
            <a:chExt cx="2439823" cy="223143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90192F1-3E11-BD40-5C1F-ECF30D260F99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2D72A21-1626-64F4-F386-2A90CC04A86D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938991C-1B09-654B-8B74-FB1D7F83CE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1" name="Graphic 80" descr="Circles with arrows with solid fill">
                <a:extLst>
                  <a:ext uri="{FF2B5EF4-FFF2-40B4-BE49-F238E27FC236}">
                    <a16:creationId xmlns:a16="http://schemas.microsoft.com/office/drawing/2014/main" id="{9F8F0D6D-D794-B4C1-13E5-7B3EA0CD3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364A6D4-6AC3-5C34-2735-DC869C319551}"/>
              </a:ext>
            </a:extLst>
          </p:cNvPr>
          <p:cNvSpPr txBox="1"/>
          <p:nvPr/>
        </p:nvSpPr>
        <p:spPr>
          <a:xfrm>
            <a:off x="3777081" y="16073501"/>
            <a:ext cx="2721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safe, organized, and efficient routing of power and signal lines in our machine environments.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43FD724-5F29-88A5-82C7-FF6340825C64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34149FE-2ECF-3B64-C039-4AC06ADF2FAA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F186D4E-4CE2-ADAE-E0ED-1295E1D3C1CF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6" name="Oval 85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41E8CDA9-AA49-76B8-1D99-68F3F58604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87" name="Graphic 86" descr="Circles with arrows with solid fill">
                <a:extLst>
                  <a:ext uri="{FF2B5EF4-FFF2-40B4-BE49-F238E27FC236}">
                    <a16:creationId xmlns:a16="http://schemas.microsoft.com/office/drawing/2014/main" id="{252CA63E-734B-3D56-CE11-EDA797658E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75EA5A3-D5D9-5DA1-AC93-8A14A43A707F}"/>
              </a:ext>
            </a:extLst>
          </p:cNvPr>
          <p:cNvSpPr txBox="1"/>
          <p:nvPr/>
        </p:nvSpPr>
        <p:spPr>
          <a:xfrm>
            <a:off x="488779" y="14966957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 floor wiring diagram shows the layout of electrical cables and components across the machine.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953DDE-4B7F-E8B9-4FA9-8A889DB072E8}"/>
              </a:ext>
            </a:extLst>
          </p:cNvPr>
          <p:cNvSpPr txBox="1"/>
          <p:nvPr/>
        </p:nvSpPr>
        <p:spPr>
          <a:xfrm>
            <a:off x="7843157" y="17756261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Checking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ED183E-5EA1-E9A4-B86B-A747DB566DA4}"/>
              </a:ext>
            </a:extLst>
          </p:cNvPr>
          <p:cNvSpPr txBox="1"/>
          <p:nvPr/>
        </p:nvSpPr>
        <p:spPr>
          <a:xfrm>
            <a:off x="8312720" y="15844120"/>
            <a:ext cx="3723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Cable routing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Wire Identification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Layout Tracing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4. Fault Diagnosis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BFA092-264A-B3D2-4584-8A0A47AEAC74}"/>
              </a:ext>
            </a:extLst>
          </p:cNvPr>
          <p:cNvSpPr txBox="1"/>
          <p:nvPr/>
        </p:nvSpPr>
        <p:spPr>
          <a:xfrm>
            <a:off x="7714839" y="15766716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Functional Flow Sequence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Event Synchronization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4401954-5720-6F29-EE65-D5A92C56C987}"/>
              </a:ext>
            </a:extLst>
          </p:cNvPr>
          <p:cNvSpPr txBox="1"/>
          <p:nvPr/>
        </p:nvSpPr>
        <p:spPr>
          <a:xfrm>
            <a:off x="7922766" y="15365723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</p:spTree>
    <p:extLst>
      <p:ext uri="{BB962C8B-B14F-4D97-AF65-F5344CB8AC3E}">
        <p14:creationId xmlns:p14="http://schemas.microsoft.com/office/powerpoint/2010/main" val="36558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D010-E2FD-DE69-F1EB-9439C930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FCBE7E5E-8AE3-AB5E-9C0E-B6B2ED88D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163E175-05CF-0D19-CF1E-0B1BE7A08F36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F469E7-1FD1-6B40-B4D9-C153BF265A60}"/>
              </a:ext>
            </a:extLst>
          </p:cNvPr>
          <p:cNvSpPr txBox="1">
            <a:spLocks/>
          </p:cNvSpPr>
          <p:nvPr/>
        </p:nvSpPr>
        <p:spPr>
          <a:xfrm>
            <a:off x="2266950" y="376776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Drive Configuration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125D5643-68BC-A362-5196-2279EEAF5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8916BDBC-AC59-FBDE-932C-B38E2CCA1260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F28B648-D3D0-F070-FC94-E127EAEF472A}"/>
              </a:ext>
            </a:extLst>
          </p:cNvPr>
          <p:cNvSpPr txBox="1"/>
          <p:nvPr/>
        </p:nvSpPr>
        <p:spPr>
          <a:xfrm>
            <a:off x="3753463" y="4264959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allows precise Automation, Energy Efficiency &amp; Protection of Motor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During the Machine Operation.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302C85F-600F-BD3F-171B-1606BCDD7E21}"/>
              </a:ext>
            </a:extLst>
          </p:cNvPr>
          <p:cNvSpPr txBox="1"/>
          <p:nvPr/>
        </p:nvSpPr>
        <p:spPr>
          <a:xfrm>
            <a:off x="7340750" y="16175491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5AF1487-81BF-1F79-B05D-84D0B3459270}"/>
              </a:ext>
            </a:extLst>
          </p:cNvPr>
          <p:cNvSpPr txBox="1"/>
          <p:nvPr/>
        </p:nvSpPr>
        <p:spPr>
          <a:xfrm>
            <a:off x="147386" y="4212454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Setting up the VFD.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Which allows Us to control Motor Speed,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Torque &amp; Direction.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D8A3EF-785F-8F8C-DEC7-171D74A2280A}"/>
              </a:ext>
            </a:extLst>
          </p:cNvPr>
          <p:cNvSpPr/>
          <p:nvPr/>
        </p:nvSpPr>
        <p:spPr>
          <a:xfrm>
            <a:off x="-10328025" y="487087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9D17A1-DC1C-AA36-A834-A02C4AD1B907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95B0AF31-542A-74A3-17FF-ABB9C3FC3033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9" name="Graphic 28" descr="Lightbulb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73E23B98-A73D-8D34-9BC6-E60AB3643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1162DF-E5A4-D763-A8BD-98C7E34A5C89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71BAA7D-6D13-4303-D556-92351ECA15AC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D7901FF3-D6B3-1C62-1AFF-37347DFE0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AF91101-C67D-9DC1-E9AF-F81830FF8763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84D445D-EC97-448A-2CE9-1B103D65C349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6BEB9BE1-852C-E82D-8B82-EA8A90B9D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87360F50-DD7F-BF0E-7AA3-4C7093E2B8AF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A77F902-8093-2639-9D52-847AFC5A2DB7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8DF06074-5F2B-563D-6D45-69DA9C28E039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3CD2FFC-6D9B-19A0-F2AC-946465F6AD2C}"/>
              </a:ext>
            </a:extLst>
          </p:cNvPr>
          <p:cNvSpPr/>
          <p:nvPr/>
        </p:nvSpPr>
        <p:spPr>
          <a:xfrm>
            <a:off x="4087110" y="11558194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6A6796-E51E-6127-4A76-8F0DAD744A8E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679614-079E-603F-53AA-E4805227AD17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998D73-F2CF-2842-154D-3B2838522E0F}"/>
              </a:ext>
            </a:extLst>
          </p:cNvPr>
          <p:cNvSpPr txBox="1">
            <a:spLocks/>
          </p:cNvSpPr>
          <p:nvPr/>
        </p:nvSpPr>
        <p:spPr>
          <a:xfrm>
            <a:off x="-11093909" y="122599"/>
            <a:ext cx="4739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Various Processes &amp; Parameter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D8654-C0A8-E739-CB85-C60110C19E11}"/>
              </a:ext>
            </a:extLst>
          </p:cNvPr>
          <p:cNvSpPr txBox="1"/>
          <p:nvPr/>
        </p:nvSpPr>
        <p:spPr>
          <a:xfrm>
            <a:off x="3753463" y="12615384"/>
            <a:ext cx="2574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makes sure the Optimal Machine Performance, Product Quality, Safe Operations.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F7E1C-5CFB-15F1-5E79-7BDF96A6B544}"/>
              </a:ext>
            </a:extLst>
          </p:cNvPr>
          <p:cNvSpPr txBox="1"/>
          <p:nvPr/>
        </p:nvSpPr>
        <p:spPr>
          <a:xfrm>
            <a:off x="7327404" y="14548875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Parameter Setting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Real Time Monitoring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Detection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Optimization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Sensor Feedback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1830D-CAC0-A1D1-8A6B-4B532FD4A2DD}"/>
              </a:ext>
            </a:extLst>
          </p:cNvPr>
          <p:cNvSpPr txBox="1"/>
          <p:nvPr/>
        </p:nvSpPr>
        <p:spPr>
          <a:xfrm>
            <a:off x="298584" y="9526869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Processes &amp; Parameter are the key settings like Speed, Tension, Temperature and Pressure that controls machine operation.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B831E-86C4-43E8-3766-17C1A914B359}"/>
              </a:ext>
            </a:extLst>
          </p:cNvPr>
          <p:cNvSpPr txBox="1">
            <a:spLocks/>
          </p:cNvSpPr>
          <p:nvPr/>
        </p:nvSpPr>
        <p:spPr>
          <a:xfrm>
            <a:off x="1891719" y="-4450511"/>
            <a:ext cx="5708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Sequence of Operation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441AC-1FB3-2A35-2A96-DC87463A0B47}"/>
              </a:ext>
            </a:extLst>
          </p:cNvPr>
          <p:cNvSpPr txBox="1"/>
          <p:nvPr/>
        </p:nvSpPr>
        <p:spPr>
          <a:xfrm>
            <a:off x="3929119" y="15354940"/>
            <a:ext cx="272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Smooth, Logical &amp; Automated Machine functioning with minimal Human Interaction.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5CE16C-211E-277B-6D66-B0318E35A6C8}"/>
              </a:ext>
            </a:extLst>
          </p:cNvPr>
          <p:cNvSpPr txBox="1"/>
          <p:nvPr/>
        </p:nvSpPr>
        <p:spPr>
          <a:xfrm>
            <a:off x="7327404" y="17267965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Step Analysis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Timing Coordination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B6C4F-37C6-3B57-7D8A-D0BB0866F5FF}"/>
              </a:ext>
            </a:extLst>
          </p:cNvPr>
          <p:cNvSpPr txBox="1"/>
          <p:nvPr/>
        </p:nvSpPr>
        <p:spPr>
          <a:xfrm>
            <a:off x="210773" y="13819354"/>
            <a:ext cx="336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Sequence of Operation defines the Step-by-Step Order in which Machine’s Components Perform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Tasks.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B3E5A0B-6F39-7C64-E8B6-231A17188831}"/>
              </a:ext>
            </a:extLst>
          </p:cNvPr>
          <p:cNvGrpSpPr/>
          <p:nvPr/>
        </p:nvGrpSpPr>
        <p:grpSpPr>
          <a:xfrm>
            <a:off x="3126955" y="-6418070"/>
            <a:ext cx="1762298" cy="2231438"/>
            <a:chOff x="2657265" y="1443842"/>
            <a:chExt cx="1762298" cy="22314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828E64-5967-BAEA-F307-6EB84CBEB897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C99AAB6-EB74-7286-8DAA-ECAC634203C8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46127D4-1B78-9C94-697F-65C3EB8889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7" name="Graphic 16" descr="Processor with solid fill">
                <a:extLst>
                  <a:ext uri="{FF2B5EF4-FFF2-40B4-BE49-F238E27FC236}">
                    <a16:creationId xmlns:a16="http://schemas.microsoft.com/office/drawing/2014/main" id="{99814D76-638A-12AE-6E33-EAB0722B20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D21ACD-1B3E-8B4B-1394-D13DBFC7B4E7}"/>
              </a:ext>
            </a:extLst>
          </p:cNvPr>
          <p:cNvGrpSpPr/>
          <p:nvPr/>
        </p:nvGrpSpPr>
        <p:grpSpPr>
          <a:xfrm>
            <a:off x="999113" y="-4399037"/>
            <a:ext cx="1762298" cy="2282369"/>
            <a:chOff x="729459" y="1443842"/>
            <a:chExt cx="1762298" cy="22823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1E5EE9-AE26-E640-879B-148B8046FBDF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2E6BDF7-7841-769B-37C9-EBD0D5F7FB70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CE5C4E0-83A7-0DCC-DB79-67ECEBBCA0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2" name="Graphic 21" descr="Transfer1 with solid fill">
                <a:extLst>
                  <a:ext uri="{FF2B5EF4-FFF2-40B4-BE49-F238E27FC236}">
                    <a16:creationId xmlns:a16="http://schemas.microsoft.com/office/drawing/2014/main" id="{EA9B1392-C612-1312-BDA3-2F2D35611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E51AA3-3417-7092-C316-5DF7E674C97E}"/>
              </a:ext>
            </a:extLst>
          </p:cNvPr>
          <p:cNvGrpSpPr/>
          <p:nvPr/>
        </p:nvGrpSpPr>
        <p:grpSpPr>
          <a:xfrm>
            <a:off x="5675396" y="-8525260"/>
            <a:ext cx="1762298" cy="2249120"/>
            <a:chOff x="4585071" y="1443842"/>
            <a:chExt cx="1762298" cy="224912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900F1C-F8A5-C748-7E84-669864470F75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483898-6761-D93E-F456-77370665FEF0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13BC7F3-2B11-F4DB-D69E-2CA7DAFAAD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32" name="Graphic 31" descr="Plug with solid fill">
                <a:extLst>
                  <a:ext uri="{FF2B5EF4-FFF2-40B4-BE49-F238E27FC236}">
                    <a16:creationId xmlns:a16="http://schemas.microsoft.com/office/drawing/2014/main" id="{47D98F8C-96FF-8AF9-6BF1-CAC3BC6FA2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9EBB5DD-8A08-E49B-4788-79BBD6158EB5}"/>
              </a:ext>
            </a:extLst>
          </p:cNvPr>
          <p:cNvGrpSpPr/>
          <p:nvPr/>
        </p:nvGrpSpPr>
        <p:grpSpPr>
          <a:xfrm>
            <a:off x="3054166" y="15386461"/>
            <a:ext cx="1762298" cy="2094290"/>
            <a:chOff x="2657265" y="4090719"/>
            <a:chExt cx="1762298" cy="209429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417B3AE-9553-EC50-8F60-3AB5EAD6A091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F9F39F0-7902-4F8E-4410-CCCA25E3197A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78D7C14-5B76-AC50-555A-702925DA8B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2" name="Graphic 41" descr="Workflow with solid fill">
                <a:extLst>
                  <a:ext uri="{FF2B5EF4-FFF2-40B4-BE49-F238E27FC236}">
                    <a16:creationId xmlns:a16="http://schemas.microsoft.com/office/drawing/2014/main" id="{42D23F9C-0DCB-B904-8879-BD553B7102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08A2BD8-6792-87E9-B60A-0AA5A16FFE65}"/>
              </a:ext>
            </a:extLst>
          </p:cNvPr>
          <p:cNvGrpSpPr/>
          <p:nvPr/>
        </p:nvGrpSpPr>
        <p:grpSpPr>
          <a:xfrm>
            <a:off x="8264638" y="-10569523"/>
            <a:ext cx="2318792" cy="2231439"/>
            <a:chOff x="6234630" y="1443842"/>
            <a:chExt cx="2318792" cy="223143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AF38333-705A-AE14-50FB-A7A46CE611AA}"/>
                </a:ext>
              </a:extLst>
            </p:cNvPr>
            <p:cNvSpPr txBox="1">
              <a:spLocks/>
            </p:cNvSpPr>
            <p:nvPr/>
          </p:nvSpPr>
          <p:spPr>
            <a:xfrm>
              <a:off x="6234630" y="3028950"/>
              <a:ext cx="2318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67C2F61-4EE0-83CF-A939-3DD319690EFD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A3A856F-C016-8CA6-448A-07F0CD0DDC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50" name="Graphic 49" descr="Circles with arrows with solid fill">
                <a:extLst>
                  <a:ext uri="{FF2B5EF4-FFF2-40B4-BE49-F238E27FC236}">
                    <a16:creationId xmlns:a16="http://schemas.microsoft.com/office/drawing/2014/main" id="{5C276992-1FE3-E1F9-1DFA-C7533EFB02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68777BE-252B-5A0A-D24A-63954B7FAA8C}"/>
              </a:ext>
            </a:extLst>
          </p:cNvPr>
          <p:cNvGrpSpPr/>
          <p:nvPr/>
        </p:nvGrpSpPr>
        <p:grpSpPr>
          <a:xfrm>
            <a:off x="8143607" y="10711691"/>
            <a:ext cx="2278381" cy="1859740"/>
            <a:chOff x="4343368" y="4090719"/>
            <a:chExt cx="2278381" cy="185974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AE6AC29-D217-CC04-D832-026FEF76D89C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7A5C51F-09AE-5D7F-41BB-EB230F141F3D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3D29BB3-8068-E983-088E-455FBCBD24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5" name="Graphic 54" descr="Tools with solid fill">
                <a:extLst>
                  <a:ext uri="{FF2B5EF4-FFF2-40B4-BE49-F238E27FC236}">
                    <a16:creationId xmlns:a16="http://schemas.microsoft.com/office/drawing/2014/main" id="{B6010024-EB62-A5D3-B2AE-993A32F218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34A956D-750B-2B0D-0CCE-902FE64A918B}"/>
              </a:ext>
            </a:extLst>
          </p:cNvPr>
          <p:cNvGrpSpPr/>
          <p:nvPr/>
        </p:nvGrpSpPr>
        <p:grpSpPr>
          <a:xfrm>
            <a:off x="11504" y="17480751"/>
            <a:ext cx="1975218" cy="2119058"/>
            <a:chOff x="581891" y="4090719"/>
            <a:chExt cx="1975218" cy="211905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78A2B9D-5778-9394-AD2C-CCA1752A284B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6EFB5A8-8CA2-ECFE-1C2A-F2CBFA524204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6666EA8-588F-7719-FF56-52B97784BF9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0" name="Graphic 59" descr="Gears with solid fill">
                <a:extLst>
                  <a:ext uri="{FF2B5EF4-FFF2-40B4-BE49-F238E27FC236}">
                    <a16:creationId xmlns:a16="http://schemas.microsoft.com/office/drawing/2014/main" id="{6BB42E5D-654E-87C6-C82E-397CF650B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7576898-C5C0-FE1A-EE44-8BEC1EAA74CF}"/>
              </a:ext>
            </a:extLst>
          </p:cNvPr>
          <p:cNvGrpSpPr/>
          <p:nvPr/>
        </p:nvGrpSpPr>
        <p:grpSpPr>
          <a:xfrm>
            <a:off x="5568936" y="13312123"/>
            <a:ext cx="1975217" cy="2119058"/>
            <a:chOff x="6512876" y="4090719"/>
            <a:chExt cx="1975217" cy="211905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D5296EE-61F4-C79F-BBF4-E398A032111D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4DCA35E-B73C-206B-B275-3FE16E3A22FB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3845F42-DBFE-D072-F758-7E8583B4B3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5" name="Graphic 64" descr="Programmer male with solid fill">
                <a:extLst>
                  <a:ext uri="{FF2B5EF4-FFF2-40B4-BE49-F238E27FC236}">
                    <a16:creationId xmlns:a16="http://schemas.microsoft.com/office/drawing/2014/main" id="{E9F40E74-37D2-5AF7-A45C-FD8AFE69D7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A99E88D1-1035-C90A-3454-16F1DA7FB7FB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86A5075-589C-3410-23C2-BD900B6DF277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A11566C-E0DF-7626-43F3-C6A94EF52BE2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443C381-BDA7-E349-96F3-E7442BB4AD99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70" name="Oval 69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7976F9D1-5B76-40E2-B0E5-F2B39556A2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71" name="Graphic 70" descr="Workflow with solid fill">
                <a:extLst>
                  <a:ext uri="{FF2B5EF4-FFF2-40B4-BE49-F238E27FC236}">
                    <a16:creationId xmlns:a16="http://schemas.microsoft.com/office/drawing/2014/main" id="{6780DABD-32AD-B3E0-D3C1-F150E42AF7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42A9D43-061C-FDD6-EE0A-B0E15B2B4496}"/>
              </a:ext>
            </a:extLst>
          </p:cNvPr>
          <p:cNvGrpSpPr/>
          <p:nvPr/>
        </p:nvGrpSpPr>
        <p:grpSpPr>
          <a:xfrm>
            <a:off x="2931929" y="15492772"/>
            <a:ext cx="1762298" cy="2094290"/>
            <a:chOff x="2657265" y="4090719"/>
            <a:chExt cx="1762298" cy="209429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F96A8F7-8E46-EC07-8040-B18534E308E0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29483C0-6018-1A7E-0B1A-6BDD8210D1A8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75" name="Oval 74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F4E71550-328D-DDD6-FD1C-A826C66DB0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76" name="Graphic 75" descr="Workflow with solid fill">
                <a:extLst>
                  <a:ext uri="{FF2B5EF4-FFF2-40B4-BE49-F238E27FC236}">
                    <a16:creationId xmlns:a16="http://schemas.microsoft.com/office/drawing/2014/main" id="{9F8D4C50-F5DA-07C6-D83E-CFCE54B0D5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F11A682-6EF7-00F8-3BD9-9A697D058288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6B50723-9F37-0307-62BE-C08F7804CBD7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D5CFF66A-CCA4-40C2-C007-AC5089167B59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866A922-6E57-9E19-FC47-D12D0FDE61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1" name="Graphic 80" descr="Circles with arrows with solid fill">
                <a:extLst>
                  <a:ext uri="{FF2B5EF4-FFF2-40B4-BE49-F238E27FC236}">
                    <a16:creationId xmlns:a16="http://schemas.microsoft.com/office/drawing/2014/main" id="{63B18124-0D84-9DC7-DA98-05E7AAC12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8A50C6E-B8F7-C612-2094-2ABD9BDCB5E2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04824DE-8663-8C26-D41A-BE5ABA7330CC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4627F0A-DFE5-01C0-73AC-0812CA30A7DD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5" name="Oval 84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A2632EB2-7C6B-2F45-4FD3-2BD532308A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86" name="Graphic 85" descr="Circles with arrows with solid fill">
                <a:extLst>
                  <a:ext uri="{FF2B5EF4-FFF2-40B4-BE49-F238E27FC236}">
                    <a16:creationId xmlns:a16="http://schemas.microsoft.com/office/drawing/2014/main" id="{7AE57F90-DAB4-F558-174E-EF6AFE36A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B56D4D3E-328E-229A-0E1A-83C72FE551FD}"/>
              </a:ext>
            </a:extLst>
          </p:cNvPr>
          <p:cNvSpPr txBox="1"/>
          <p:nvPr/>
        </p:nvSpPr>
        <p:spPr>
          <a:xfrm>
            <a:off x="-50278" y="12881954"/>
            <a:ext cx="3214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Processes &amp; Parameter are the key settings like Speed, Tension, Temperature and Pressure that controls Operational Flow of the Machine.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5A57881-70B7-72B2-BA37-2A5A3EDCF79D}"/>
              </a:ext>
            </a:extLst>
          </p:cNvPr>
          <p:cNvSpPr txBox="1"/>
          <p:nvPr/>
        </p:nvSpPr>
        <p:spPr>
          <a:xfrm>
            <a:off x="7252626" y="15612898"/>
            <a:ext cx="3953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Parameter Setting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Real Time Monitoring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Detection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Optimization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Sensor Feedback &amp; Analysis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295DC3D-D7D0-DD98-B8E7-41AA1D1FACC4}"/>
              </a:ext>
            </a:extLst>
          </p:cNvPr>
          <p:cNvSpPr txBox="1"/>
          <p:nvPr/>
        </p:nvSpPr>
        <p:spPr>
          <a:xfrm>
            <a:off x="6930317" y="4345655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6EDC189-4ECD-4400-D48D-B6DEC5CCBD0C}"/>
              </a:ext>
            </a:extLst>
          </p:cNvPr>
          <p:cNvSpPr txBox="1"/>
          <p:nvPr/>
        </p:nvSpPr>
        <p:spPr>
          <a:xfrm>
            <a:off x="7322375" y="14783376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Functional Flow Sequence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Event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516445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08F74-5DB2-8E04-97AF-5B9FE9D9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77A0F30C-EF36-0195-53AF-A9D5BEB80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8599BF4-4AA1-B3F2-FFFC-15C371E5EBBC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14F1771-6FB1-A00F-9D12-EA81A171474D}"/>
              </a:ext>
            </a:extLst>
          </p:cNvPr>
          <p:cNvSpPr txBox="1">
            <a:spLocks/>
          </p:cNvSpPr>
          <p:nvPr/>
        </p:nvSpPr>
        <p:spPr>
          <a:xfrm>
            <a:off x="1631374" y="529254"/>
            <a:ext cx="5708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Sequence of Operation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8BD21F52-FA55-7D1A-7803-A155606739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11BA6C9A-C08E-B6CE-4188-A49B7AD825F3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CC92902-04DF-A910-13CF-4C57AA5BEE92}"/>
              </a:ext>
            </a:extLst>
          </p:cNvPr>
          <p:cNvSpPr txBox="1"/>
          <p:nvPr/>
        </p:nvSpPr>
        <p:spPr>
          <a:xfrm>
            <a:off x="3753462" y="4264959"/>
            <a:ext cx="272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Smooth, Logical &amp; Automated Machine functioning with minimal Human Interaction.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AB0248E-ED85-F588-3B7D-1F982487D76D}"/>
              </a:ext>
            </a:extLst>
          </p:cNvPr>
          <p:cNvSpPr txBox="1"/>
          <p:nvPr/>
        </p:nvSpPr>
        <p:spPr>
          <a:xfrm>
            <a:off x="6942321" y="4270712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Functional Flow Sequence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Event Synchronization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E41B774-D14B-BDD9-8D08-F93EEB93C54D}"/>
              </a:ext>
            </a:extLst>
          </p:cNvPr>
          <p:cNvSpPr txBox="1"/>
          <p:nvPr/>
        </p:nvSpPr>
        <p:spPr>
          <a:xfrm>
            <a:off x="0" y="4212454"/>
            <a:ext cx="336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Sequence of Operation defines the Step-by-Step Order in which Machine’s Components Perform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Tasks.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1486A0-C27C-4721-7495-6E9060E186A5}"/>
              </a:ext>
            </a:extLst>
          </p:cNvPr>
          <p:cNvSpPr/>
          <p:nvPr/>
        </p:nvSpPr>
        <p:spPr>
          <a:xfrm>
            <a:off x="-10328025" y="487087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BAD93C2-3C48-FDA9-D8A9-5BB0C94F4F09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2661D12B-85EF-BC73-840E-8707BB736BFD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9" name="Graphic 28" descr="Lightbulb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2DC8A343-423D-B85D-28EC-216462C24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1933F03-58B9-FA2D-C769-B91FC7B1D7B5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0DA048-291F-15AB-8861-E0C273D0DA36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5C65C0F3-C215-8A22-BA1A-5902E31A2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9761334-A580-6541-ECD1-0EF1087B118F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345B13F-74DD-8AF8-D0F6-6F8C1D38364A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0623C694-5B47-B356-0081-FA58AA8A2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6CF075B-85EB-1998-BF29-15B68BA2F559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1A213C7-30B0-106A-C08B-05A0466FDB4F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3FFC700-C25B-EAAB-6086-111F001A3983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CCB3EBE-13DE-2B36-B36D-33630A02160F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CF0BDC-5E05-B494-3B07-6769ABCBD9DF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3C2A16-EF4C-A9FC-07EE-7219C9D76871}"/>
              </a:ext>
            </a:extLst>
          </p:cNvPr>
          <p:cNvSpPr txBox="1">
            <a:spLocks/>
          </p:cNvSpPr>
          <p:nvPr/>
        </p:nvSpPr>
        <p:spPr>
          <a:xfrm>
            <a:off x="-9346900" y="347053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Drive Configuration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919855-B6DF-FB93-191B-8E335CDC072E}"/>
              </a:ext>
            </a:extLst>
          </p:cNvPr>
          <p:cNvSpPr txBox="1"/>
          <p:nvPr/>
        </p:nvSpPr>
        <p:spPr>
          <a:xfrm>
            <a:off x="3982096" y="13081961"/>
            <a:ext cx="25744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allows precise Automation, Energy Efficiency &amp; Protection of Motor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During the Machine Operation.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A1333-8657-3B39-41E5-F41A79499405}"/>
              </a:ext>
            </a:extLst>
          </p:cNvPr>
          <p:cNvSpPr txBox="1"/>
          <p:nvPr/>
        </p:nvSpPr>
        <p:spPr>
          <a:xfrm>
            <a:off x="7912925" y="15108015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D90031-FE7B-D9AC-E3C2-9AED6C3B1A70}"/>
              </a:ext>
            </a:extLst>
          </p:cNvPr>
          <p:cNvSpPr txBox="1"/>
          <p:nvPr/>
        </p:nvSpPr>
        <p:spPr>
          <a:xfrm>
            <a:off x="440414" y="9508330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Setting up the VFD.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Which allows Us to control Motor Speed,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Torque &amp; Direction.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255CE4-CF8D-F219-7D8D-559287B0C3A0}"/>
              </a:ext>
            </a:extLst>
          </p:cNvPr>
          <p:cNvSpPr txBox="1">
            <a:spLocks/>
          </p:cNvSpPr>
          <p:nvPr/>
        </p:nvSpPr>
        <p:spPr>
          <a:xfrm>
            <a:off x="2047668" y="-6598613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Programming Logic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6D0E1-FF1A-6ED1-2404-7B7B6773C687}"/>
              </a:ext>
            </a:extLst>
          </p:cNvPr>
          <p:cNvSpPr txBox="1"/>
          <p:nvPr/>
        </p:nvSpPr>
        <p:spPr>
          <a:xfrm>
            <a:off x="4153879" y="11193011"/>
            <a:ext cx="2948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Automates Operation, Ensures Safety &amp; allows Consistent Performance based on Real Time Condition.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3D24E4-8432-0C69-4EA8-5ADD5834B5AE}"/>
              </a:ext>
            </a:extLst>
          </p:cNvPr>
          <p:cNvSpPr txBox="1"/>
          <p:nvPr/>
        </p:nvSpPr>
        <p:spPr>
          <a:xfrm>
            <a:off x="7711657" y="12819680"/>
            <a:ext cx="4125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Logical Conditioning Writing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B7711-54C1-6F8A-2C50-168882AB5BE8}"/>
              </a:ext>
            </a:extLst>
          </p:cNvPr>
          <p:cNvSpPr txBox="1"/>
          <p:nvPr/>
        </p:nvSpPr>
        <p:spPr>
          <a:xfrm>
            <a:off x="440414" y="11147028"/>
            <a:ext cx="3214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Structured Set of Instructions that Controls Machine Behavior Through a PLC.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35E01E0-AC82-D097-0A58-384F3B2BDD62}"/>
              </a:ext>
            </a:extLst>
          </p:cNvPr>
          <p:cNvGrpSpPr/>
          <p:nvPr/>
        </p:nvGrpSpPr>
        <p:grpSpPr>
          <a:xfrm>
            <a:off x="3126955" y="-6418070"/>
            <a:ext cx="1762298" cy="2231438"/>
            <a:chOff x="2657265" y="1443842"/>
            <a:chExt cx="1762298" cy="22314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09414C-7394-BF51-6367-19C8001E4449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97A18CD-C177-5D53-9EC1-EB4C1E6D908C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CD6F746-871C-6CE3-CF19-207B392BA8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7" name="Graphic 16" descr="Processor with solid fill">
                <a:extLst>
                  <a:ext uri="{FF2B5EF4-FFF2-40B4-BE49-F238E27FC236}">
                    <a16:creationId xmlns:a16="http://schemas.microsoft.com/office/drawing/2014/main" id="{3BEE633D-0A6F-9DC4-C6B1-3D8D4AB13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8D8DB2A-C7CB-6F80-EB15-F78DE77C1234}"/>
              </a:ext>
            </a:extLst>
          </p:cNvPr>
          <p:cNvGrpSpPr/>
          <p:nvPr/>
        </p:nvGrpSpPr>
        <p:grpSpPr>
          <a:xfrm>
            <a:off x="999113" y="-4399037"/>
            <a:ext cx="1762298" cy="2282369"/>
            <a:chOff x="729459" y="1443842"/>
            <a:chExt cx="1762298" cy="22823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FD3A41C-3DFD-ADAA-1DD6-5C1E409DB721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38DF9F-9926-5EFC-F05C-FD7FCC7EE149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A852F4B-F665-0865-2799-EA99188450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2" name="Graphic 21" descr="Transfer1 with solid fill">
                <a:extLst>
                  <a:ext uri="{FF2B5EF4-FFF2-40B4-BE49-F238E27FC236}">
                    <a16:creationId xmlns:a16="http://schemas.microsoft.com/office/drawing/2014/main" id="{A68089D3-541A-CA2F-B64C-1FBB691E7E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A46C841-FE4E-4C6E-80C4-56DA6A93F35E}"/>
              </a:ext>
            </a:extLst>
          </p:cNvPr>
          <p:cNvGrpSpPr/>
          <p:nvPr/>
        </p:nvGrpSpPr>
        <p:grpSpPr>
          <a:xfrm>
            <a:off x="5675396" y="-8525260"/>
            <a:ext cx="1762298" cy="2249120"/>
            <a:chOff x="4585071" y="1443842"/>
            <a:chExt cx="1762298" cy="224912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39EA658-B830-B46A-AA60-EE57DCEB88B5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1373898-0F53-51E4-BEBB-9FB75D114B31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F03143A-7148-9541-33BB-3A66D93111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32" name="Graphic 31" descr="Plug with solid fill">
                <a:extLst>
                  <a:ext uri="{FF2B5EF4-FFF2-40B4-BE49-F238E27FC236}">
                    <a16:creationId xmlns:a16="http://schemas.microsoft.com/office/drawing/2014/main" id="{E2D1877F-EA73-413E-3028-DFFCB09DE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44C8F4-AD1D-0833-9599-685F15F53985}"/>
              </a:ext>
            </a:extLst>
          </p:cNvPr>
          <p:cNvGrpSpPr/>
          <p:nvPr/>
        </p:nvGrpSpPr>
        <p:grpSpPr>
          <a:xfrm>
            <a:off x="3054166" y="15386461"/>
            <a:ext cx="1762298" cy="2094290"/>
            <a:chOff x="2657265" y="4090719"/>
            <a:chExt cx="1762298" cy="209429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37BA12E-45B9-AE83-70AA-948A3E9FD73B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B30D20C-9FC4-7AA7-DA1F-879E724F5513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1E31405-0E67-226B-E57F-4EC1295C76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42" name="Graphic 41" descr="Workflow with solid fill">
                <a:extLst>
                  <a:ext uri="{FF2B5EF4-FFF2-40B4-BE49-F238E27FC236}">
                    <a16:creationId xmlns:a16="http://schemas.microsoft.com/office/drawing/2014/main" id="{86549163-FB1B-8491-B88C-873A3503D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A97391F-6819-E94D-B06A-F0F408B2F873}"/>
              </a:ext>
            </a:extLst>
          </p:cNvPr>
          <p:cNvGrpSpPr/>
          <p:nvPr/>
        </p:nvGrpSpPr>
        <p:grpSpPr>
          <a:xfrm>
            <a:off x="8264638" y="-10569523"/>
            <a:ext cx="2318792" cy="2231439"/>
            <a:chOff x="6234630" y="1443842"/>
            <a:chExt cx="2318792" cy="223143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738BEE1-4485-1AB8-62A6-38B59ACE2562}"/>
                </a:ext>
              </a:extLst>
            </p:cNvPr>
            <p:cNvSpPr txBox="1">
              <a:spLocks/>
            </p:cNvSpPr>
            <p:nvPr/>
          </p:nvSpPr>
          <p:spPr>
            <a:xfrm>
              <a:off x="6234630" y="3028950"/>
              <a:ext cx="2318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FF6E003-BCD2-EDEE-E071-5D5067D9CF72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4140ACD-B726-8CA8-917D-7363D680C9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50" name="Graphic 49" descr="Circles with arrows with solid fill">
                <a:extLst>
                  <a:ext uri="{FF2B5EF4-FFF2-40B4-BE49-F238E27FC236}">
                    <a16:creationId xmlns:a16="http://schemas.microsoft.com/office/drawing/2014/main" id="{C100EA90-175E-7D3B-BEBE-E1F1A51C1F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B54BDA4-1519-A97B-9BEF-013D2C0ED9F3}"/>
              </a:ext>
            </a:extLst>
          </p:cNvPr>
          <p:cNvGrpSpPr/>
          <p:nvPr/>
        </p:nvGrpSpPr>
        <p:grpSpPr>
          <a:xfrm>
            <a:off x="8143607" y="10711691"/>
            <a:ext cx="2278381" cy="1859740"/>
            <a:chOff x="4343368" y="4090719"/>
            <a:chExt cx="2278381" cy="185974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72EC2D9-FEFC-0BAC-C647-01023D415C3D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FBACC1E-0BCB-7039-722F-04686D8CA504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9973DDE-C789-5048-99D9-080FC40E9B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5" name="Graphic 54" descr="Tools with solid fill">
                <a:extLst>
                  <a:ext uri="{FF2B5EF4-FFF2-40B4-BE49-F238E27FC236}">
                    <a16:creationId xmlns:a16="http://schemas.microsoft.com/office/drawing/2014/main" id="{214D27A8-6F01-02BB-A7E3-6444462C9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ED0C2C0-2E8B-A876-84F7-0EBB497A98C1}"/>
              </a:ext>
            </a:extLst>
          </p:cNvPr>
          <p:cNvGrpSpPr/>
          <p:nvPr/>
        </p:nvGrpSpPr>
        <p:grpSpPr>
          <a:xfrm>
            <a:off x="11504" y="17480751"/>
            <a:ext cx="1975218" cy="2119058"/>
            <a:chOff x="581891" y="4090719"/>
            <a:chExt cx="1975218" cy="211905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795D1BF-EF1D-21E7-8603-11322B52DC4E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5F9A714-F4D6-FED9-8EB3-18383A3EFBB0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1AC116C-F3C5-D2B7-D7D0-9AD210DD68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0" name="Graphic 59" descr="Gears with solid fill">
                <a:extLst>
                  <a:ext uri="{FF2B5EF4-FFF2-40B4-BE49-F238E27FC236}">
                    <a16:creationId xmlns:a16="http://schemas.microsoft.com/office/drawing/2014/main" id="{F19AB009-5F0B-DA2A-E0E5-E095D08A4E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504179C-9C87-EE0C-AB9D-9B9647A2A95D}"/>
              </a:ext>
            </a:extLst>
          </p:cNvPr>
          <p:cNvGrpSpPr/>
          <p:nvPr/>
        </p:nvGrpSpPr>
        <p:grpSpPr>
          <a:xfrm>
            <a:off x="5568936" y="13312123"/>
            <a:ext cx="1975217" cy="2119058"/>
            <a:chOff x="6512876" y="4090719"/>
            <a:chExt cx="1975217" cy="211905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0462865-3426-B979-CE55-C85CA3B4E5B3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CCB031C-706C-B6D6-C683-81AF9757F10B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75A025B5-A854-F792-E95F-A5A2EE80C1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5" name="Graphic 64" descr="Programmer male with solid fill">
                <a:extLst>
                  <a:ext uri="{FF2B5EF4-FFF2-40B4-BE49-F238E27FC236}">
                    <a16:creationId xmlns:a16="http://schemas.microsoft.com/office/drawing/2014/main" id="{D50B18B7-D34E-0BFE-6314-BAF0157EFE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2F69D28-BB98-FCD3-A3EE-96795089B24D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7C502EE-0660-B31D-ADF2-7B59C3A3A993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985AE52-796B-30C4-B688-B429BA071B7F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FB09BC4-F8CB-8E85-E03C-9DAE77694C7E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75" name="Oval 74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592B8150-6A95-4625-892C-8CE93BBB98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76" name="Graphic 75" descr="Workflow with solid fill">
                <a:extLst>
                  <a:ext uri="{FF2B5EF4-FFF2-40B4-BE49-F238E27FC236}">
                    <a16:creationId xmlns:a16="http://schemas.microsoft.com/office/drawing/2014/main" id="{8E5DF6F6-7681-7490-7CFD-7B9EEB26CD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FAEC2C3-4E0A-E967-C802-55BA1CF0BDBC}"/>
              </a:ext>
            </a:extLst>
          </p:cNvPr>
          <p:cNvGrpSpPr/>
          <p:nvPr/>
        </p:nvGrpSpPr>
        <p:grpSpPr>
          <a:xfrm>
            <a:off x="2931929" y="15492772"/>
            <a:ext cx="1762298" cy="2094290"/>
            <a:chOff x="2657265" y="4090719"/>
            <a:chExt cx="1762298" cy="2094290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15843B18-A65F-F14E-5BFC-928A26A0E6CA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696370E-E4B2-6402-7FF0-55DFE6FD68D2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80" name="Oval 79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375E83E3-2B44-87FE-EFD0-8A8CE26D80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81" name="Graphic 80" descr="Workflow with solid fill">
                <a:extLst>
                  <a:ext uri="{FF2B5EF4-FFF2-40B4-BE49-F238E27FC236}">
                    <a16:creationId xmlns:a16="http://schemas.microsoft.com/office/drawing/2014/main" id="{F5695520-8E28-1344-E378-182E3A43F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D4EE6A-CDF4-9B93-CA5E-75524B3701DC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FF5C795-ABB3-516C-D215-C0A6A4599D1F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EC27B79-4B2A-2C84-E5E8-7F07928B1933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7735828-C486-E8F7-59CC-F92215486F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70" name="Graphic 69" descr="Circles with arrows with solid fill">
                <a:extLst>
                  <a:ext uri="{FF2B5EF4-FFF2-40B4-BE49-F238E27FC236}">
                    <a16:creationId xmlns:a16="http://schemas.microsoft.com/office/drawing/2014/main" id="{1FC89C4C-BD21-EC1C-B6EC-89FCEE584F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B771F31-6F81-762C-8FC9-D72D0D144C2D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3B2C7F0-FC6D-B4FD-215C-44F7439F98AF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E5F1F4A-1876-E11A-4C78-2C7697720108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4" name="Oval 83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CFAA5F49-132D-BEB4-3183-E675E0B1D0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85" name="Graphic 84" descr="Circles with arrows with solid fill">
                <a:extLst>
                  <a:ext uri="{FF2B5EF4-FFF2-40B4-BE49-F238E27FC236}">
                    <a16:creationId xmlns:a16="http://schemas.microsoft.com/office/drawing/2014/main" id="{DDF7C789-B439-9023-D30F-F272A4512B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880900A7-044B-9D84-4112-FBB6799AF042}"/>
              </a:ext>
            </a:extLst>
          </p:cNvPr>
          <p:cNvSpPr txBox="1"/>
          <p:nvPr/>
        </p:nvSpPr>
        <p:spPr>
          <a:xfrm>
            <a:off x="7601664" y="14416324"/>
            <a:ext cx="44386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Conditioning Logic Programming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9D3DE74-726D-9757-93D0-31D948E72D12}"/>
              </a:ext>
            </a:extLst>
          </p:cNvPr>
          <p:cNvSpPr txBox="1"/>
          <p:nvPr/>
        </p:nvSpPr>
        <p:spPr>
          <a:xfrm>
            <a:off x="7726837" y="14958627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</p:spTree>
    <p:extLst>
      <p:ext uri="{BB962C8B-B14F-4D97-AF65-F5344CB8AC3E}">
        <p14:creationId xmlns:p14="http://schemas.microsoft.com/office/powerpoint/2010/main" val="3459233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3411-E120-C87F-CFFC-DF981D9AF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65630E49-EB59-2AD2-EED7-3D6DE5FCF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CDB3529-B20B-259A-E1DD-01C6D7D26F92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03FF06-B689-624D-5943-C51467D0F3CD}"/>
              </a:ext>
            </a:extLst>
          </p:cNvPr>
          <p:cNvSpPr txBox="1">
            <a:spLocks/>
          </p:cNvSpPr>
          <p:nvPr/>
        </p:nvSpPr>
        <p:spPr>
          <a:xfrm>
            <a:off x="2266950" y="376776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Programming Logic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5CD87487-E6CA-6F85-CE92-5C4E4816C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FCD84F87-63BF-8C23-E7B7-1A09950BECB2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73A57C3-F568-65DD-B9D7-BD71CFEBA8FD}"/>
              </a:ext>
            </a:extLst>
          </p:cNvPr>
          <p:cNvSpPr txBox="1"/>
          <p:nvPr/>
        </p:nvSpPr>
        <p:spPr>
          <a:xfrm>
            <a:off x="3677806" y="4264959"/>
            <a:ext cx="2948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Automates Operation, Ensures Safety &amp; allows Consistent Performance based on Real Time Condition.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C764AE1-389A-DB60-8DC6-074AB5471C63}"/>
              </a:ext>
            </a:extLst>
          </p:cNvPr>
          <p:cNvSpPr txBox="1"/>
          <p:nvPr/>
        </p:nvSpPr>
        <p:spPr>
          <a:xfrm>
            <a:off x="6942320" y="4270712"/>
            <a:ext cx="44386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Conditioning Logic Programming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37B8621-7FC8-96B5-0B9E-8740A2500117}"/>
              </a:ext>
            </a:extLst>
          </p:cNvPr>
          <p:cNvSpPr txBox="1"/>
          <p:nvPr/>
        </p:nvSpPr>
        <p:spPr>
          <a:xfrm>
            <a:off x="147386" y="4212454"/>
            <a:ext cx="3214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Structured Set of Instructions that Controls Machine Behavior Through a PLC.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ACA0BF-10AE-EB69-4B7E-D6A31FDD4478}"/>
              </a:ext>
            </a:extLst>
          </p:cNvPr>
          <p:cNvSpPr/>
          <p:nvPr/>
        </p:nvSpPr>
        <p:spPr>
          <a:xfrm>
            <a:off x="950837" y="13217488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8BE0E1-68ED-01D7-D7C7-BB2750ACFEAA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BE36DFE3-783A-DF67-04FC-A0A8EBE15819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" name="Graphic 28" descr="Lightbulb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3DF82657-B70B-E19A-6ED5-FCD2D6A1C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E6926DC-6C7A-8AF9-360C-BA4E9DF2F888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95AA00A-7F9C-4035-32AB-7CAE7F29EAC9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6623FACB-2B53-94F0-1F27-7272B1C94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3B2DF81-EA76-2D4D-FD50-B5D376E66F02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D384A00-1B1E-368F-A2B2-BC45957B1F24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A791B931-F2B5-582F-AFB4-21641FF79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DB881F8-0454-6408-4C3D-A618CBABBDA7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B9EFC4F-D342-928D-203F-CB671E8F55A7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7AA4082-44E2-7553-0014-697F5828766F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2FAA996-E707-ED87-26BB-988FDCE9EE4A}"/>
              </a:ext>
            </a:extLst>
          </p:cNvPr>
          <p:cNvSpPr/>
          <p:nvPr/>
        </p:nvSpPr>
        <p:spPr>
          <a:xfrm>
            <a:off x="-405364" y="14540926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4469A3-6F45-C276-EF28-B9915DCDC3DA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78DF02-60B3-5178-5B93-D26DF579149A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7B65DF-E7B2-5C11-E672-E48E01D90665}"/>
              </a:ext>
            </a:extLst>
          </p:cNvPr>
          <p:cNvSpPr txBox="1">
            <a:spLocks/>
          </p:cNvSpPr>
          <p:nvPr/>
        </p:nvSpPr>
        <p:spPr>
          <a:xfrm>
            <a:off x="-9262405" y="531361"/>
            <a:ext cx="5708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Sequence of Operation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9AA04-D5DD-C864-0CE3-D16EFA68E19F}"/>
              </a:ext>
            </a:extLst>
          </p:cNvPr>
          <p:cNvSpPr txBox="1"/>
          <p:nvPr/>
        </p:nvSpPr>
        <p:spPr>
          <a:xfrm>
            <a:off x="2848447" y="14808524"/>
            <a:ext cx="272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ensures Smooth, Logical &amp; Automated Machine functioning with minimal Human Interaction.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79D6A-1A0C-3A45-846C-2CD1B311260A}"/>
              </a:ext>
            </a:extLst>
          </p:cNvPr>
          <p:cNvSpPr txBox="1"/>
          <p:nvPr/>
        </p:nvSpPr>
        <p:spPr>
          <a:xfrm>
            <a:off x="7961498" y="16191382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Step Analysis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Timing Coordination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4A6D0-A373-3D64-3129-2C993735E142}"/>
              </a:ext>
            </a:extLst>
          </p:cNvPr>
          <p:cNvSpPr txBox="1"/>
          <p:nvPr/>
        </p:nvSpPr>
        <p:spPr>
          <a:xfrm>
            <a:off x="385083" y="12561172"/>
            <a:ext cx="3361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Sequence of Operation defines the Step-by-Step Order in which Machine’s Components Perform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Tasks.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6C5D0-0308-A603-2DED-D3D1752DF43C}"/>
              </a:ext>
            </a:extLst>
          </p:cNvPr>
          <p:cNvSpPr txBox="1">
            <a:spLocks/>
          </p:cNvSpPr>
          <p:nvPr/>
        </p:nvSpPr>
        <p:spPr>
          <a:xfrm>
            <a:off x="3330236" y="-8220069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Troubleshooting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ECB01-036F-9862-F86B-196252F5A004}"/>
              </a:ext>
            </a:extLst>
          </p:cNvPr>
          <p:cNvSpPr txBox="1"/>
          <p:nvPr/>
        </p:nvSpPr>
        <p:spPr>
          <a:xfrm>
            <a:off x="2735020" y="15286935"/>
            <a:ext cx="294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helps restore Machine functionality quickly, Minimize Downtime &amp; ensures Safe Operation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76057-3A31-DB56-A877-BF1BEAD1B09A}"/>
              </a:ext>
            </a:extLst>
          </p:cNvPr>
          <p:cNvSpPr txBox="1"/>
          <p:nvPr/>
        </p:nvSpPr>
        <p:spPr>
          <a:xfrm>
            <a:off x="8390690" y="17466347"/>
            <a:ext cx="4125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Identification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Multimeter Usage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Error Code Interpretation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Signal Tracing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Root Cause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F3EB79-B457-CD20-ADA6-4990A593C157}"/>
              </a:ext>
            </a:extLst>
          </p:cNvPr>
          <p:cNvSpPr txBox="1"/>
          <p:nvPr/>
        </p:nvSpPr>
        <p:spPr>
          <a:xfrm>
            <a:off x="-947557" y="12851102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Identifying, diagnosing &amp; Resolving faults in Electrical or Control System.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D4A4C-ACD1-F265-A3A5-F91FDE2C0CE1}"/>
              </a:ext>
            </a:extLst>
          </p:cNvPr>
          <p:cNvGrpSpPr/>
          <p:nvPr/>
        </p:nvGrpSpPr>
        <p:grpSpPr>
          <a:xfrm>
            <a:off x="3126955" y="-6418070"/>
            <a:ext cx="1762298" cy="2231438"/>
            <a:chOff x="2657265" y="1443842"/>
            <a:chExt cx="1762298" cy="22314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B582B3-D9E4-8224-5874-0618546FD4AF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1AED9C1-D142-8F75-CCA4-1FCC0D28E3EF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8A4E071-0653-821F-73C7-69A6C1D4C9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7" name="Graphic 16" descr="Processor with solid fill">
                <a:extLst>
                  <a:ext uri="{FF2B5EF4-FFF2-40B4-BE49-F238E27FC236}">
                    <a16:creationId xmlns:a16="http://schemas.microsoft.com/office/drawing/2014/main" id="{5D2A4FE6-336B-805E-35AD-47412968D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F2FF0E-EDA3-711C-BE97-20870CECB1C0}"/>
              </a:ext>
            </a:extLst>
          </p:cNvPr>
          <p:cNvGrpSpPr/>
          <p:nvPr/>
        </p:nvGrpSpPr>
        <p:grpSpPr>
          <a:xfrm>
            <a:off x="999113" y="-4399037"/>
            <a:ext cx="1762298" cy="2282369"/>
            <a:chOff x="729459" y="1443842"/>
            <a:chExt cx="1762298" cy="228236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1AC4919-3E30-987E-FEFE-B7038AA76B7F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05DB6B6-5665-37A8-86C9-B5E9E03CABDE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CA0867F-212B-0955-11B8-1113D6665B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2" name="Graphic 21" descr="Transfer1 with solid fill">
                <a:extLst>
                  <a:ext uri="{FF2B5EF4-FFF2-40B4-BE49-F238E27FC236}">
                    <a16:creationId xmlns:a16="http://schemas.microsoft.com/office/drawing/2014/main" id="{F82C62EF-4D33-504F-B634-5F6C695D7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D92D88-B115-9CFD-DE67-688FEC1A9EEE}"/>
              </a:ext>
            </a:extLst>
          </p:cNvPr>
          <p:cNvGrpSpPr/>
          <p:nvPr/>
        </p:nvGrpSpPr>
        <p:grpSpPr>
          <a:xfrm>
            <a:off x="5675396" y="-8525260"/>
            <a:ext cx="1762298" cy="2249120"/>
            <a:chOff x="4585071" y="1443842"/>
            <a:chExt cx="1762298" cy="224912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7A1012A-E45F-A4D9-45CE-42205F96BD78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D6245A5-4843-0ADE-A979-39AE63B1FE83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6972A7-52FC-4755-A7EF-E83558318E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32" name="Graphic 31" descr="Plug with solid fill">
                <a:extLst>
                  <a:ext uri="{FF2B5EF4-FFF2-40B4-BE49-F238E27FC236}">
                    <a16:creationId xmlns:a16="http://schemas.microsoft.com/office/drawing/2014/main" id="{206D13DB-2CA1-9801-A597-961B54B1C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79D1712-34B2-7688-966E-2A87CDA6BD35}"/>
              </a:ext>
            </a:extLst>
          </p:cNvPr>
          <p:cNvGrpSpPr/>
          <p:nvPr/>
        </p:nvGrpSpPr>
        <p:grpSpPr>
          <a:xfrm>
            <a:off x="8264638" y="-10569523"/>
            <a:ext cx="2318792" cy="2231439"/>
            <a:chOff x="6234630" y="1443842"/>
            <a:chExt cx="2318792" cy="223143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61EE106-0CBA-2E30-4D14-318BAA7ED0A2}"/>
                </a:ext>
              </a:extLst>
            </p:cNvPr>
            <p:cNvSpPr txBox="1">
              <a:spLocks/>
            </p:cNvSpPr>
            <p:nvPr/>
          </p:nvSpPr>
          <p:spPr>
            <a:xfrm>
              <a:off x="6234630" y="3028950"/>
              <a:ext cx="2318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DAB4DCB-A06B-4DF9-6DF7-B6D5130A61E0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CD7CCC4-4B90-4FCA-EE9C-4EAFF61B13A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50" name="Graphic 49" descr="Circles with arrows with solid fill">
                <a:extLst>
                  <a:ext uri="{FF2B5EF4-FFF2-40B4-BE49-F238E27FC236}">
                    <a16:creationId xmlns:a16="http://schemas.microsoft.com/office/drawing/2014/main" id="{11F5357C-C422-E207-9D3A-6BCFEA5D4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95012C1-905B-AF38-E410-3BE03E8BB986}"/>
              </a:ext>
            </a:extLst>
          </p:cNvPr>
          <p:cNvGrpSpPr/>
          <p:nvPr/>
        </p:nvGrpSpPr>
        <p:grpSpPr>
          <a:xfrm>
            <a:off x="8143607" y="10711691"/>
            <a:ext cx="2278381" cy="1859740"/>
            <a:chOff x="4343368" y="4090719"/>
            <a:chExt cx="2278381" cy="185974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E270CC5-FADD-FC4E-D7AF-1C012793282F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B132036-9FD2-C4EF-DF00-52BCAD683C79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DB1290F-C866-4746-98A6-2C3D897F12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5" name="Graphic 54" descr="Tools with solid fill">
                <a:extLst>
                  <a:ext uri="{FF2B5EF4-FFF2-40B4-BE49-F238E27FC236}">
                    <a16:creationId xmlns:a16="http://schemas.microsoft.com/office/drawing/2014/main" id="{7E6E9DA5-60D6-46EB-F351-AB56B01457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7491360-D22D-1EFD-23AA-04F296651026}"/>
              </a:ext>
            </a:extLst>
          </p:cNvPr>
          <p:cNvGrpSpPr/>
          <p:nvPr/>
        </p:nvGrpSpPr>
        <p:grpSpPr>
          <a:xfrm>
            <a:off x="11504" y="17480751"/>
            <a:ext cx="1975218" cy="2119058"/>
            <a:chOff x="581891" y="4090719"/>
            <a:chExt cx="1975218" cy="211905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25B0808-8284-12F0-AA30-D62449B3E3D7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90A8A0F-EF4E-6818-2D56-610302762726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2A1F742-31B4-AE8E-0FFF-3A9E872545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0" name="Graphic 59" descr="Gears with solid fill">
                <a:extLst>
                  <a:ext uri="{FF2B5EF4-FFF2-40B4-BE49-F238E27FC236}">
                    <a16:creationId xmlns:a16="http://schemas.microsoft.com/office/drawing/2014/main" id="{5DFEA967-D2F2-AD78-2E84-C013603A10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757559C-B02B-FFDE-F019-B39C2DC9D622}"/>
              </a:ext>
            </a:extLst>
          </p:cNvPr>
          <p:cNvGrpSpPr/>
          <p:nvPr/>
        </p:nvGrpSpPr>
        <p:grpSpPr>
          <a:xfrm>
            <a:off x="4058779" y="13591097"/>
            <a:ext cx="1975217" cy="2119058"/>
            <a:chOff x="6512876" y="4090719"/>
            <a:chExt cx="1975217" cy="211905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DCE5C51-0E4D-DFD0-2D9E-62CAFC4B7347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4A64514-3EF5-8751-6CC0-70FEA5D00AEF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103308A-D4CA-DE44-C200-D673EC47288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5" name="Graphic 64" descr="Programmer male with solid fill">
                <a:extLst>
                  <a:ext uri="{FF2B5EF4-FFF2-40B4-BE49-F238E27FC236}">
                    <a16:creationId xmlns:a16="http://schemas.microsoft.com/office/drawing/2014/main" id="{4B6CD99F-6C18-4D38-9B55-FC0A3471E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88726526-9687-E372-250F-A2D978EC1FB8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7221F52-7F4E-2BE6-2E8A-C7829F62D770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34E9F67-3EA5-AF4C-B8F1-A9EC0ED1A14A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7D94F04-461C-0FA3-D0A5-0A628A176C7A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70" name="Oval 69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AAA77FBC-F043-5DB3-7093-014619D060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71" name="Graphic 70" descr="Workflow with solid fill">
                <a:extLst>
                  <a:ext uri="{FF2B5EF4-FFF2-40B4-BE49-F238E27FC236}">
                    <a16:creationId xmlns:a16="http://schemas.microsoft.com/office/drawing/2014/main" id="{0D1B4572-21C4-4B66-B9F8-E4492819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87F2E20-96F2-04B7-C614-FE11E7DDD2C0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40B8D1D-A2DF-EBF4-0BC3-43646BBD950B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AE39721-EA65-48C4-492A-8F09FF713D9A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A50C0406-664E-91A7-0551-C17470C762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1" name="Graphic 80" descr="Circles with arrows with solid fill">
                <a:extLst>
                  <a:ext uri="{FF2B5EF4-FFF2-40B4-BE49-F238E27FC236}">
                    <a16:creationId xmlns:a16="http://schemas.microsoft.com/office/drawing/2014/main" id="{64EB802B-4662-9DF2-D8B6-52ECF3F819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248837A-5DB9-4526-8803-FAFAC9D820D4}"/>
              </a:ext>
            </a:extLst>
          </p:cNvPr>
          <p:cNvGrpSpPr/>
          <p:nvPr/>
        </p:nvGrpSpPr>
        <p:grpSpPr>
          <a:xfrm>
            <a:off x="8296007" y="-10417123"/>
            <a:ext cx="2439823" cy="2231439"/>
            <a:chOff x="6113599" y="1443842"/>
            <a:chExt cx="2439823" cy="223143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70BC14E-D571-C955-7334-28341D065EBB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95308119-594E-6AC9-FB85-FD13F3AF18B2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20A70299-7788-F9A9-4FBD-272D017C7F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6" name="Graphic 85" descr="Circles with arrows with solid fill">
                <a:extLst>
                  <a:ext uri="{FF2B5EF4-FFF2-40B4-BE49-F238E27FC236}">
                    <a16:creationId xmlns:a16="http://schemas.microsoft.com/office/drawing/2014/main" id="{CCC292C8-F4D3-0943-A835-AE90C4922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83CF638-6D56-4883-A4F3-F07DFE4C03BE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789EB1F-E98C-E431-BC40-9442F3A98E02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D1CF191B-2BB7-F96C-ED64-0A8AEE3829EE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90" name="Oval 89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B15991D5-97A0-4882-13DF-1EF6BFE0C7A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91" name="Graphic 90" descr="Circles with arrows with solid fill">
                <a:extLst>
                  <a:ext uri="{FF2B5EF4-FFF2-40B4-BE49-F238E27FC236}">
                    <a16:creationId xmlns:a16="http://schemas.microsoft.com/office/drawing/2014/main" id="{27671848-1B2A-D43F-85CD-2D127CC40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5351983-6ED7-6C67-104B-4D5B958B29AB}"/>
              </a:ext>
            </a:extLst>
          </p:cNvPr>
          <p:cNvGrpSpPr/>
          <p:nvPr/>
        </p:nvGrpSpPr>
        <p:grpSpPr>
          <a:xfrm>
            <a:off x="2384642" y="15752637"/>
            <a:ext cx="1762298" cy="2094290"/>
            <a:chOff x="2657265" y="4090719"/>
            <a:chExt cx="1762298" cy="2094290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10BC846-5703-A4C7-119E-878727CA5116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8BA209D-DDF6-99BC-F176-6EC25493C8FD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96" name="Oval 95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49EF2530-B400-7B47-79EF-C780279EDD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97" name="Graphic 96" descr="Workflow with solid fill">
                <a:extLst>
                  <a:ext uri="{FF2B5EF4-FFF2-40B4-BE49-F238E27FC236}">
                    <a16:creationId xmlns:a16="http://schemas.microsoft.com/office/drawing/2014/main" id="{1CFB8022-79A5-5580-D257-16AC88C53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7E7D504-8205-62E9-28C9-98105F6361F0}"/>
              </a:ext>
            </a:extLst>
          </p:cNvPr>
          <p:cNvGrpSpPr/>
          <p:nvPr/>
        </p:nvGrpSpPr>
        <p:grpSpPr>
          <a:xfrm>
            <a:off x="2523551" y="16645222"/>
            <a:ext cx="1762298" cy="2094290"/>
            <a:chOff x="2657265" y="4090719"/>
            <a:chExt cx="1762298" cy="2094290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B81AE71-F380-F8C1-BB6F-83D1446A7FD6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B0B3AA22-E671-D517-5C9F-3D47A5D799DF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01" name="Oval 100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2CF66E37-85BB-ED17-251E-45B33B48FB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02" name="Graphic 101" descr="Workflow with solid fill">
                <a:extLst>
                  <a:ext uri="{FF2B5EF4-FFF2-40B4-BE49-F238E27FC236}">
                    <a16:creationId xmlns:a16="http://schemas.microsoft.com/office/drawing/2014/main" id="{8D21D8A6-BCF5-697B-CA8F-B72058D2E3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5A82E9F-B3FF-B7BE-6AE6-DD492B1F6B35}"/>
              </a:ext>
            </a:extLst>
          </p:cNvPr>
          <p:cNvSpPr txBox="1"/>
          <p:nvPr/>
        </p:nvSpPr>
        <p:spPr>
          <a:xfrm>
            <a:off x="7340750" y="16175491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VFD Parameters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Motor Speed Control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Emergency Stop Logic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Pin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Drive Faults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40A514-9960-0ADC-D957-EFA8ECF7268D}"/>
              </a:ext>
            </a:extLst>
          </p:cNvPr>
          <p:cNvSpPr txBox="1"/>
          <p:nvPr/>
        </p:nvSpPr>
        <p:spPr>
          <a:xfrm>
            <a:off x="7080349" y="17535823"/>
            <a:ext cx="4436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Identification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Measuring Instruments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Error Code Interpretation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Signal Tracing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Root Cause Analysis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BF9805-89A4-5C38-0470-E81CF21CF13B}"/>
              </a:ext>
            </a:extLst>
          </p:cNvPr>
          <p:cNvSpPr txBox="1"/>
          <p:nvPr/>
        </p:nvSpPr>
        <p:spPr>
          <a:xfrm>
            <a:off x="7355995" y="16358007"/>
            <a:ext cx="3723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Functional Flow Sequence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Process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 Understanding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Tracing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Event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47005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15D8-074D-DEEF-79FD-3B1A9CBCA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ACE89A21-1B21-F914-5365-1EBE0CF1F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72B806C-2A0E-9230-0B86-51642D24BECD}"/>
              </a:ext>
            </a:extLst>
          </p:cNvPr>
          <p:cNvSpPr>
            <a:spLocks/>
          </p:cNvSpPr>
          <p:nvPr/>
        </p:nvSpPr>
        <p:spPr>
          <a:xfrm>
            <a:off x="7753350" y="0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2BAD4FE-6348-6270-5E4D-6F7FA81FF927}"/>
              </a:ext>
            </a:extLst>
          </p:cNvPr>
          <p:cNvSpPr txBox="1">
            <a:spLocks/>
          </p:cNvSpPr>
          <p:nvPr/>
        </p:nvSpPr>
        <p:spPr>
          <a:xfrm>
            <a:off x="2266950" y="376776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Troubleshooting</a:t>
            </a:r>
            <a:endParaRPr lang="en-IN" sz="3600" b="1" dirty="0">
              <a:latin typeface="Montserrat Bold" pitchFamily="2" charset="0"/>
            </a:endParaRPr>
          </a:p>
        </p:txBody>
      </p:sp>
      <p:pic>
        <p:nvPicPr>
          <p:cNvPr id="103" name="Picture 10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16F52390-0B8B-FA1C-1067-9D1181969C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-139766"/>
            <a:ext cx="2342147" cy="1317458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0DC9D288-E6C9-2398-54B1-BF013F623D0F}"/>
              </a:ext>
            </a:extLst>
          </p:cNvPr>
          <p:cNvSpPr/>
          <p:nvPr/>
        </p:nvSpPr>
        <p:spPr>
          <a:xfrm>
            <a:off x="3813078" y="438418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5B30AC0-1C25-0EA7-C149-57AA82D2BF2F}"/>
              </a:ext>
            </a:extLst>
          </p:cNvPr>
          <p:cNvSpPr txBox="1"/>
          <p:nvPr/>
        </p:nvSpPr>
        <p:spPr>
          <a:xfrm>
            <a:off x="3677806" y="4264959"/>
            <a:ext cx="294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helps restore Machine functionality quickly, Minimize Downtime &amp; ensures Safe Operation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1B6E9FF-B776-979F-ED72-B6CF2BA17B53}"/>
              </a:ext>
            </a:extLst>
          </p:cNvPr>
          <p:cNvSpPr txBox="1"/>
          <p:nvPr/>
        </p:nvSpPr>
        <p:spPr>
          <a:xfrm>
            <a:off x="6942320" y="4270712"/>
            <a:ext cx="4436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Identification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Measuring Instruments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Error Code Interpretation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Signal Tracing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Root Cause Analysis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685F842-E5EE-7B84-7494-052ACBAFF154}"/>
              </a:ext>
            </a:extLst>
          </p:cNvPr>
          <p:cNvSpPr txBox="1"/>
          <p:nvPr/>
        </p:nvSpPr>
        <p:spPr>
          <a:xfrm>
            <a:off x="147386" y="4212454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Identifying, diagnosing &amp; Resolving faults in Electrical or Control System.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10966-5E68-92AF-762F-229633BE4E5D}"/>
              </a:ext>
            </a:extLst>
          </p:cNvPr>
          <p:cNvSpPr/>
          <p:nvPr/>
        </p:nvSpPr>
        <p:spPr>
          <a:xfrm>
            <a:off x="-10328025" y="4870877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BDF509-9FC3-F9BC-D1B4-EEA3F0D78057}"/>
              </a:ext>
            </a:extLst>
          </p:cNvPr>
          <p:cNvGrpSpPr/>
          <p:nvPr/>
        </p:nvGrpSpPr>
        <p:grpSpPr>
          <a:xfrm>
            <a:off x="1148451" y="1676755"/>
            <a:ext cx="1762298" cy="1751709"/>
            <a:chOff x="1111179" y="2399815"/>
            <a:chExt cx="1762298" cy="1751709"/>
          </a:xfrm>
        </p:grpSpPr>
        <p:sp>
          <p:nvSpPr>
            <p:cNvPr id="24" name="Oval 23">
              <a:hlinkClick r:id="rId6" action="ppaction://hlinksldjump"/>
              <a:extLst>
                <a:ext uri="{FF2B5EF4-FFF2-40B4-BE49-F238E27FC236}">
                  <a16:creationId xmlns:a16="http://schemas.microsoft.com/office/drawing/2014/main" id="{C9CEF4B8-14EF-0556-E187-3C91FEF97E17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9" name="Graphic 28" descr="Lightbulb with solid fill">
              <a:hlinkClick r:id="rId6" action="ppaction://hlinksldjump"/>
              <a:extLst>
                <a:ext uri="{FF2B5EF4-FFF2-40B4-BE49-F238E27FC236}">
                  <a16:creationId xmlns:a16="http://schemas.microsoft.com/office/drawing/2014/main" id="{01BD98A4-37D2-8FBF-5336-96B294820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070B976-4EFB-931B-BF5A-E16930CF9886}"/>
              </a:ext>
            </a:extLst>
          </p:cNvPr>
          <p:cNvGrpSpPr/>
          <p:nvPr/>
        </p:nvGrpSpPr>
        <p:grpSpPr>
          <a:xfrm>
            <a:off x="4098165" y="1676755"/>
            <a:ext cx="1762298" cy="1751709"/>
            <a:chOff x="4060893" y="2399815"/>
            <a:chExt cx="1762298" cy="175170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D68CDC8-0D2E-A233-412A-4459CBB55E4A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1" name="Graphic 30" descr="Bullseye with solid fill">
              <a:extLst>
                <a:ext uri="{FF2B5EF4-FFF2-40B4-BE49-F238E27FC236}">
                  <a16:creationId xmlns:a16="http://schemas.microsoft.com/office/drawing/2014/main" id="{AFB31D35-8DCE-AB13-D1E9-530BD54A2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377397D-AD46-A4A8-493D-941FC28035FE}"/>
              </a:ext>
            </a:extLst>
          </p:cNvPr>
          <p:cNvGrpSpPr/>
          <p:nvPr/>
        </p:nvGrpSpPr>
        <p:grpSpPr>
          <a:xfrm>
            <a:off x="7041618" y="1666305"/>
            <a:ext cx="1762298" cy="1751709"/>
            <a:chOff x="7004346" y="2389365"/>
            <a:chExt cx="1762298" cy="1751709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15EC892-66C3-586D-52F6-850F72CF7ADB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33" name="Graphic 32" descr="Brain in head with solid fill">
              <a:extLst>
                <a:ext uri="{FF2B5EF4-FFF2-40B4-BE49-F238E27FC236}">
                  <a16:creationId xmlns:a16="http://schemas.microsoft.com/office/drawing/2014/main" id="{2AD1DFFA-7A11-E925-8FA5-E8A1A7197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35B0E5C-AA48-BF95-EE82-5F3D5DAB7495}"/>
              </a:ext>
            </a:extLst>
          </p:cNvPr>
          <p:cNvSpPr txBox="1"/>
          <p:nvPr/>
        </p:nvSpPr>
        <p:spPr>
          <a:xfrm>
            <a:off x="936170" y="3763574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9D04E46-9E49-C6DB-6310-FC2277C429A9}"/>
              </a:ext>
            </a:extLst>
          </p:cNvPr>
          <p:cNvCxnSpPr>
            <a:cxnSpLocks/>
          </p:cNvCxnSpPr>
          <p:nvPr/>
        </p:nvCxnSpPr>
        <p:spPr>
          <a:xfrm>
            <a:off x="3513091" y="1775969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C440059-3C34-FAFC-2FE1-62DDBC52A3DE}"/>
              </a:ext>
            </a:extLst>
          </p:cNvPr>
          <p:cNvCxnSpPr>
            <a:cxnSpLocks/>
          </p:cNvCxnSpPr>
          <p:nvPr/>
        </p:nvCxnSpPr>
        <p:spPr>
          <a:xfrm>
            <a:off x="6626408" y="1747458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CC416B1-7289-CDDA-3A12-5379AE22CB5D}"/>
              </a:ext>
            </a:extLst>
          </p:cNvPr>
          <p:cNvSpPr/>
          <p:nvPr/>
        </p:nvSpPr>
        <p:spPr>
          <a:xfrm>
            <a:off x="-10021993" y="4382148"/>
            <a:ext cx="2152349" cy="211438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92B60D-7372-3DD1-3F6A-61EFB94B5816}"/>
              </a:ext>
            </a:extLst>
          </p:cNvPr>
          <p:cNvSpPr txBox="1"/>
          <p:nvPr/>
        </p:nvSpPr>
        <p:spPr>
          <a:xfrm>
            <a:off x="3964235" y="3793262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0B723D-2A57-8A49-E50B-1E47DF07BCDB}"/>
              </a:ext>
            </a:extLst>
          </p:cNvPr>
          <p:cNvSpPr txBox="1"/>
          <p:nvPr/>
        </p:nvSpPr>
        <p:spPr>
          <a:xfrm>
            <a:off x="7080349" y="3829051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0EA7AA-F41D-BDEE-1C55-4F39A037DC12}"/>
              </a:ext>
            </a:extLst>
          </p:cNvPr>
          <p:cNvSpPr txBox="1">
            <a:spLocks/>
          </p:cNvSpPr>
          <p:nvPr/>
        </p:nvSpPr>
        <p:spPr>
          <a:xfrm>
            <a:off x="-12691033" y="195797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Programming Logic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3365A-887A-C6AE-3278-D96EBB73CF34}"/>
              </a:ext>
            </a:extLst>
          </p:cNvPr>
          <p:cNvSpPr txBox="1"/>
          <p:nvPr/>
        </p:nvSpPr>
        <p:spPr>
          <a:xfrm>
            <a:off x="4131751" y="11740858"/>
            <a:ext cx="29485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Automates Operation, Ensures Safety &amp; allows Consistent Performance based on Real Time Condition.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EDCA8-274B-5DA7-9EE9-D55446870632}"/>
              </a:ext>
            </a:extLst>
          </p:cNvPr>
          <p:cNvSpPr txBox="1"/>
          <p:nvPr/>
        </p:nvSpPr>
        <p:spPr>
          <a:xfrm>
            <a:off x="7786990" y="13876184"/>
            <a:ext cx="4125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Logical Conditioning Writing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0583E-7AE7-4654-6D24-374A3319BABC}"/>
              </a:ext>
            </a:extLst>
          </p:cNvPr>
          <p:cNvSpPr txBox="1"/>
          <p:nvPr/>
        </p:nvSpPr>
        <p:spPr>
          <a:xfrm>
            <a:off x="162008" y="10126253"/>
            <a:ext cx="3214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Structured Set of Instructions that Controls Machine Behavior Through a PLC.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58C7A9-33E6-5085-25A8-8591A87BACCF}"/>
              </a:ext>
            </a:extLst>
          </p:cNvPr>
          <p:cNvGrpSpPr/>
          <p:nvPr/>
        </p:nvGrpSpPr>
        <p:grpSpPr>
          <a:xfrm>
            <a:off x="3126955" y="-6418070"/>
            <a:ext cx="1762298" cy="2231438"/>
            <a:chOff x="2657265" y="1443842"/>
            <a:chExt cx="1762298" cy="223143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DA1269-9D5D-24A1-4EF3-1E6F342EA9CC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1903768-0D1A-67FD-17B2-E012119D5C19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39486DF-554B-56D9-17D2-89E847C0CA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2" name="Graphic 11" descr="Processor with solid fill">
                <a:extLst>
                  <a:ext uri="{FF2B5EF4-FFF2-40B4-BE49-F238E27FC236}">
                    <a16:creationId xmlns:a16="http://schemas.microsoft.com/office/drawing/2014/main" id="{51E2CCD4-CF3C-FEA1-B245-E53326B8F2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BEB3C9-11DD-C042-499B-7A3ACF75387C}"/>
              </a:ext>
            </a:extLst>
          </p:cNvPr>
          <p:cNvGrpSpPr/>
          <p:nvPr/>
        </p:nvGrpSpPr>
        <p:grpSpPr>
          <a:xfrm>
            <a:off x="999113" y="-4399037"/>
            <a:ext cx="1762298" cy="2282369"/>
            <a:chOff x="729459" y="1443842"/>
            <a:chExt cx="1762298" cy="228236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C2561-1B8A-AAB1-2802-2083366BF048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BBA24CB-7A87-3FA1-5FB0-F84AF862ADB5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D79B7E7-942C-DC69-8A46-6AA00BE007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8" name="Graphic 17" descr="Transfer1 with solid fill">
                <a:extLst>
                  <a:ext uri="{FF2B5EF4-FFF2-40B4-BE49-F238E27FC236}">
                    <a16:creationId xmlns:a16="http://schemas.microsoft.com/office/drawing/2014/main" id="{460008E6-10C3-4ADA-A176-7DE0B8AB33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6E40BF-28E8-3554-A2FA-27F019002934}"/>
              </a:ext>
            </a:extLst>
          </p:cNvPr>
          <p:cNvGrpSpPr/>
          <p:nvPr/>
        </p:nvGrpSpPr>
        <p:grpSpPr>
          <a:xfrm>
            <a:off x="5675396" y="-8525260"/>
            <a:ext cx="1762298" cy="2249120"/>
            <a:chOff x="4585071" y="1443842"/>
            <a:chExt cx="1762298" cy="224912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98C2F9-FF65-F473-55E4-9BC3D40CE568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A105E0E-3654-58C9-8C54-1FBA3850A2B0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0364CDF-0893-6E69-26F9-0DF6107B9C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23" name="Graphic 22" descr="Plug with solid fill">
                <a:extLst>
                  <a:ext uri="{FF2B5EF4-FFF2-40B4-BE49-F238E27FC236}">
                    <a16:creationId xmlns:a16="http://schemas.microsoft.com/office/drawing/2014/main" id="{E9ACC4AE-2D9F-0781-88B7-9D4957F65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B481678-D50B-02CF-1259-224CEA3CEB4E}"/>
              </a:ext>
            </a:extLst>
          </p:cNvPr>
          <p:cNvGrpSpPr/>
          <p:nvPr/>
        </p:nvGrpSpPr>
        <p:grpSpPr>
          <a:xfrm>
            <a:off x="3054166" y="15386461"/>
            <a:ext cx="1762298" cy="2094290"/>
            <a:chOff x="2657265" y="4090719"/>
            <a:chExt cx="1762298" cy="209429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05307FB-D947-3965-AD3C-F13AB19AC94C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Sequence of Operation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B54E55E-175B-08D4-0EF7-20E18F4D7BCC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B2B0B1B-E1F6-34DD-D473-CADED2E80D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36" name="Graphic 35" descr="Workflow with solid fill">
                <a:extLst>
                  <a:ext uri="{FF2B5EF4-FFF2-40B4-BE49-F238E27FC236}">
                    <a16:creationId xmlns:a16="http://schemas.microsoft.com/office/drawing/2014/main" id="{AF49E02B-D7EC-8FC2-2123-646FD9CF0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FF9703B-7402-C4FE-0518-26DB5C533098}"/>
              </a:ext>
            </a:extLst>
          </p:cNvPr>
          <p:cNvGrpSpPr/>
          <p:nvPr/>
        </p:nvGrpSpPr>
        <p:grpSpPr>
          <a:xfrm>
            <a:off x="8264638" y="-10569523"/>
            <a:ext cx="2318792" cy="2231439"/>
            <a:chOff x="6234630" y="1443842"/>
            <a:chExt cx="2318792" cy="223143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B228E3-2347-79C3-0869-2D2A3786B3DE}"/>
                </a:ext>
              </a:extLst>
            </p:cNvPr>
            <p:cNvSpPr txBox="1">
              <a:spLocks/>
            </p:cNvSpPr>
            <p:nvPr/>
          </p:nvSpPr>
          <p:spPr>
            <a:xfrm>
              <a:off x="6234630" y="3028950"/>
              <a:ext cx="2318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A47C872-C657-985D-3018-E4B47DFD7CF6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475D617-0001-34DA-B610-BED9F78BA99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46" name="Graphic 45" descr="Circles with arrows with solid fill">
                <a:extLst>
                  <a:ext uri="{FF2B5EF4-FFF2-40B4-BE49-F238E27FC236}">
                    <a16:creationId xmlns:a16="http://schemas.microsoft.com/office/drawing/2014/main" id="{BAEB5F81-1819-48CD-D149-ACEC5EBE25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24C3884-36FB-3772-30C5-07C08C2FE626}"/>
              </a:ext>
            </a:extLst>
          </p:cNvPr>
          <p:cNvGrpSpPr/>
          <p:nvPr/>
        </p:nvGrpSpPr>
        <p:grpSpPr>
          <a:xfrm>
            <a:off x="8143607" y="10711691"/>
            <a:ext cx="2278381" cy="1859740"/>
            <a:chOff x="4343368" y="4090719"/>
            <a:chExt cx="2278381" cy="185974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C9000BE-1B5C-1915-32CC-69ADDCDB8CF5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4E1391E-8F51-3A51-048E-FE94DCDC5404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10DDAB9-03F5-CF30-0AFC-27D50A1BA4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1" name="Graphic 50" descr="Tools with solid fill">
                <a:extLst>
                  <a:ext uri="{FF2B5EF4-FFF2-40B4-BE49-F238E27FC236}">
                    <a16:creationId xmlns:a16="http://schemas.microsoft.com/office/drawing/2014/main" id="{53065984-8776-AB11-FF3A-0A270B91EB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8760E42-DEDD-E8F8-7047-98A72538B52F}"/>
              </a:ext>
            </a:extLst>
          </p:cNvPr>
          <p:cNvGrpSpPr/>
          <p:nvPr/>
        </p:nvGrpSpPr>
        <p:grpSpPr>
          <a:xfrm>
            <a:off x="11504" y="17480751"/>
            <a:ext cx="1975218" cy="2119058"/>
            <a:chOff x="581891" y="4090719"/>
            <a:chExt cx="1975218" cy="211905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B196FA-5795-DA2C-367E-9502BCBEF0AF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7DE4505-4CA9-7824-9785-163BF568F25C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2FCA942-D3AE-6BC3-05AD-EF35C7CA75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6" name="Graphic 55" descr="Gears with solid fill">
                <a:extLst>
                  <a:ext uri="{FF2B5EF4-FFF2-40B4-BE49-F238E27FC236}">
                    <a16:creationId xmlns:a16="http://schemas.microsoft.com/office/drawing/2014/main" id="{2213DD7B-15E4-C07C-A63D-36A30E58E3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DDCE7AA-2F49-0753-D511-AA331E1D2892}"/>
              </a:ext>
            </a:extLst>
          </p:cNvPr>
          <p:cNvGrpSpPr/>
          <p:nvPr/>
        </p:nvGrpSpPr>
        <p:grpSpPr>
          <a:xfrm>
            <a:off x="5568936" y="13312123"/>
            <a:ext cx="1975217" cy="2119058"/>
            <a:chOff x="6512876" y="4090719"/>
            <a:chExt cx="1975217" cy="2119058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3887099-F428-3F5C-9C5F-95822A67868D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01E52E0-E2D5-69F8-3A1A-6FF734F750CC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8C2663F2-F113-D524-95A2-B039D8898F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61" name="Graphic 60" descr="Programmer male with solid fill">
                <a:extLst>
                  <a:ext uri="{FF2B5EF4-FFF2-40B4-BE49-F238E27FC236}">
                    <a16:creationId xmlns:a16="http://schemas.microsoft.com/office/drawing/2014/main" id="{061F6530-165F-160F-BD98-73C0EA998A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8E74BE8-B9FE-2502-591F-2EC40831BF6E}"/>
              </a:ext>
            </a:extLst>
          </p:cNvPr>
          <p:cNvSpPr txBox="1">
            <a:spLocks/>
          </p:cNvSpPr>
          <p:nvPr/>
        </p:nvSpPr>
        <p:spPr>
          <a:xfrm>
            <a:off x="2096033" y="-10373084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231A94C-151B-FD93-E474-2614F46699EC}"/>
              </a:ext>
            </a:extLst>
          </p:cNvPr>
          <p:cNvGrpSpPr/>
          <p:nvPr/>
        </p:nvGrpSpPr>
        <p:grpSpPr>
          <a:xfrm>
            <a:off x="3156914" y="20876284"/>
            <a:ext cx="1762298" cy="2094290"/>
            <a:chOff x="2657265" y="4090719"/>
            <a:chExt cx="1762298" cy="209429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E70B6D3-7408-E77E-7B9A-4F6FF04E2417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D2E85D5-1E77-39E0-88E1-9934EEEB4ED8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66" name="Oval 65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07A8406D-B29F-DA2E-B302-3B14976816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67" name="Graphic 66" descr="Workflow with solid fill">
                <a:extLst>
                  <a:ext uri="{FF2B5EF4-FFF2-40B4-BE49-F238E27FC236}">
                    <a16:creationId xmlns:a16="http://schemas.microsoft.com/office/drawing/2014/main" id="{16229937-4BD7-784B-D66F-ED3839B30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FD282AD-84E5-D144-02C0-AF3FFD5A8E47}"/>
              </a:ext>
            </a:extLst>
          </p:cNvPr>
          <p:cNvSpPr/>
          <p:nvPr/>
        </p:nvSpPr>
        <p:spPr>
          <a:xfrm>
            <a:off x="3390900" y="-7422876"/>
            <a:ext cx="8724900" cy="605790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4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FDA8EE6-E8BA-B8E8-4A1C-CA327DDAD677}"/>
              </a:ext>
            </a:extLst>
          </p:cNvPr>
          <p:cNvSpPr txBox="1"/>
          <p:nvPr/>
        </p:nvSpPr>
        <p:spPr>
          <a:xfrm>
            <a:off x="-6934202" y="3458818"/>
            <a:ext cx="4209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Thank You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27A2FFF-023B-35A1-24E3-DC29F2ADA132}"/>
              </a:ext>
            </a:extLst>
          </p:cNvPr>
          <p:cNvGrpSpPr/>
          <p:nvPr/>
        </p:nvGrpSpPr>
        <p:grpSpPr>
          <a:xfrm>
            <a:off x="8143607" y="-10569523"/>
            <a:ext cx="2439823" cy="2231439"/>
            <a:chOff x="6113599" y="1443842"/>
            <a:chExt cx="2439823" cy="2231439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E27C16F-79F1-D613-7E96-5A2AA0FC09DE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30FBD62-3E6A-874E-3E56-EF9C56325550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8AFEDEDE-0DAE-7898-30A6-4102BC0749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79" name="Graphic 78" descr="Circles with arrows with solid fill">
                <a:extLst>
                  <a:ext uri="{FF2B5EF4-FFF2-40B4-BE49-F238E27FC236}">
                    <a16:creationId xmlns:a16="http://schemas.microsoft.com/office/drawing/2014/main" id="{546B72A6-2782-5EB2-1DCA-D5009834A3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5A0D2FC-6638-1C09-7FD7-95C1C2B26454}"/>
              </a:ext>
            </a:extLst>
          </p:cNvPr>
          <p:cNvGrpSpPr/>
          <p:nvPr/>
        </p:nvGrpSpPr>
        <p:grpSpPr>
          <a:xfrm>
            <a:off x="8296007" y="-10417123"/>
            <a:ext cx="2439823" cy="2231439"/>
            <a:chOff x="6113599" y="1443842"/>
            <a:chExt cx="2439823" cy="2231439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2CFCBEA-0469-9AB6-AC29-718F98C73583}"/>
                </a:ext>
              </a:extLst>
            </p:cNvPr>
            <p:cNvSpPr txBox="1">
              <a:spLocks/>
            </p:cNvSpPr>
            <p:nvPr/>
          </p:nvSpPr>
          <p:spPr>
            <a:xfrm>
              <a:off x="6113599" y="3028950"/>
              <a:ext cx="24398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Various Processes &amp; Parameter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A4D38C6-4FB8-23B6-9E44-2D2145F9213D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CF0BA539-81DE-F641-5DA1-2FEA4EBABF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4" name="Graphic 83" descr="Circles with arrows with solid fill">
                <a:extLst>
                  <a:ext uri="{FF2B5EF4-FFF2-40B4-BE49-F238E27FC236}">
                    <a16:creationId xmlns:a16="http://schemas.microsoft.com/office/drawing/2014/main" id="{78AC0ADA-6829-14EC-9DC5-CB930CB514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9A36D8E-8696-BF24-C75F-E202A1527235}"/>
              </a:ext>
            </a:extLst>
          </p:cNvPr>
          <p:cNvGrpSpPr/>
          <p:nvPr/>
        </p:nvGrpSpPr>
        <p:grpSpPr>
          <a:xfrm>
            <a:off x="8317132" y="-10685584"/>
            <a:ext cx="2376946" cy="2196380"/>
            <a:chOff x="6347369" y="1443842"/>
            <a:chExt cx="2376946" cy="2196380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C50D4F4-EA81-A297-FED4-FAAB2B65900F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A24CA082-2D8A-F51F-A0A5-6DB17AC582DC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8" name="Oval 87">
                <a:hlinkClick r:id="rId30" action="ppaction://hlinksldjump"/>
                <a:extLst>
                  <a:ext uri="{FF2B5EF4-FFF2-40B4-BE49-F238E27FC236}">
                    <a16:creationId xmlns:a16="http://schemas.microsoft.com/office/drawing/2014/main" id="{61252D06-B299-7B43-5D38-110B86DE56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89" name="Graphic 88" descr="Circles with arrows with solid fill">
                <a:extLst>
                  <a:ext uri="{FF2B5EF4-FFF2-40B4-BE49-F238E27FC236}">
                    <a16:creationId xmlns:a16="http://schemas.microsoft.com/office/drawing/2014/main" id="{48AD8490-2190-102E-38C9-683664D62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F14FBFB-B468-3337-3195-BDE91A751234}"/>
              </a:ext>
            </a:extLst>
          </p:cNvPr>
          <p:cNvGrpSpPr/>
          <p:nvPr/>
        </p:nvGrpSpPr>
        <p:grpSpPr>
          <a:xfrm>
            <a:off x="3126954" y="15503872"/>
            <a:ext cx="1762298" cy="2094290"/>
            <a:chOff x="2657265" y="4090719"/>
            <a:chExt cx="1762298" cy="209429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2840B55-055C-4B67-6F21-EABA3389147D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C84CCAD-23A5-D0BD-9A47-0E143AAC2A1F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93" name="Oval 92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EA8E320F-CC93-C12C-AED9-0D7795C838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95" name="Graphic 94" descr="Workflow with solid fill">
                <a:extLst>
                  <a:ext uri="{FF2B5EF4-FFF2-40B4-BE49-F238E27FC236}">
                    <a16:creationId xmlns:a16="http://schemas.microsoft.com/office/drawing/2014/main" id="{DAB937A4-B854-3CC9-32F2-640EF9F701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86006C0-2A1D-1988-1D62-AB3932C18A77}"/>
              </a:ext>
            </a:extLst>
          </p:cNvPr>
          <p:cNvSpPr txBox="1"/>
          <p:nvPr/>
        </p:nvSpPr>
        <p:spPr>
          <a:xfrm>
            <a:off x="-13151215" y="4686211"/>
            <a:ext cx="51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Questions? I’d be happy to explain more.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8236EB-F9AB-9902-AC3C-B71C205E7F4A}"/>
              </a:ext>
            </a:extLst>
          </p:cNvPr>
          <p:cNvSpPr txBox="1"/>
          <p:nvPr/>
        </p:nvSpPr>
        <p:spPr>
          <a:xfrm>
            <a:off x="7601664" y="14416324"/>
            <a:ext cx="44386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Ladder Diagram Development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Conditioning Logic Programming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PLC I/P &amp; O/P Mapping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Timer &amp; Counter Configuration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Debugging &amp; Testing Logic Sequence</a:t>
            </a:r>
          </a:p>
        </p:txBody>
      </p:sp>
    </p:spTree>
    <p:extLst>
      <p:ext uri="{BB962C8B-B14F-4D97-AF65-F5344CB8AC3E}">
        <p14:creationId xmlns:p14="http://schemas.microsoft.com/office/powerpoint/2010/main" val="1493699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hlinkClick r:id="rId2" action="ppaction://hlinksldjump"/>
            <a:extLst>
              <a:ext uri="{FF2B5EF4-FFF2-40B4-BE49-F238E27FC236}">
                <a16:creationId xmlns:a16="http://schemas.microsoft.com/office/drawing/2014/main" id="{E023503C-A98C-0A4C-C85F-2B2BD1CA905F}"/>
              </a:ext>
            </a:extLst>
          </p:cNvPr>
          <p:cNvSpPr/>
          <p:nvPr/>
        </p:nvSpPr>
        <p:spPr>
          <a:xfrm>
            <a:off x="3467100" y="0"/>
            <a:ext cx="8724900" cy="605790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pic>
        <p:nvPicPr>
          <p:cNvPr id="5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B9405FD0-5447-1B03-2475-A94A00D36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3" y="0"/>
            <a:ext cx="2342147" cy="1317458"/>
          </a:xfrm>
          <a:prstGeom prst="rect">
            <a:avLst/>
          </a:prstGeom>
        </p:spPr>
      </p:pic>
      <p:pic>
        <p:nvPicPr>
          <p:cNvPr id="6" name="Picture 5" descr="A logo of a university&#10;&#10;AI-generated content may be incorrect.">
            <a:extLst>
              <a:ext uri="{FF2B5EF4-FFF2-40B4-BE49-F238E27FC236}">
                <a16:creationId xmlns:a16="http://schemas.microsoft.com/office/drawing/2014/main" id="{67C6DDC1-00CC-4AE3-AAF1-66FB0D4EB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86" y="122599"/>
            <a:ext cx="1103897" cy="10550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A23C29-CEA4-BCB3-9778-60272C016EF0}"/>
              </a:ext>
            </a:extLst>
          </p:cNvPr>
          <p:cNvSpPr txBox="1"/>
          <p:nvPr/>
        </p:nvSpPr>
        <p:spPr>
          <a:xfrm>
            <a:off x="254620" y="3632200"/>
            <a:ext cx="4209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Thank You</a:t>
            </a:r>
            <a:endParaRPr lang="en-IN" sz="54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735F7C-5107-9032-5BD4-AAD181BF14DD}"/>
              </a:ext>
            </a:extLst>
          </p:cNvPr>
          <p:cNvSpPr>
            <a:spLocks/>
          </p:cNvSpPr>
          <p:nvPr/>
        </p:nvSpPr>
        <p:spPr>
          <a:xfrm>
            <a:off x="7753350" y="-7647789"/>
            <a:ext cx="4438650" cy="3028950"/>
          </a:xfrm>
          <a:custGeom>
            <a:avLst/>
            <a:gdLst>
              <a:gd name="connsiteX0" fmla="*/ 9353550 w 9353550"/>
              <a:gd name="connsiteY0" fmla="*/ 3713436 h 6858000"/>
              <a:gd name="connsiteX1" fmla="*/ 9353550 w 9353550"/>
              <a:gd name="connsiteY1" fmla="*/ 5471074 h 6858000"/>
              <a:gd name="connsiteX2" fmla="*/ 8459744 w 9353550"/>
              <a:gd name="connsiteY2" fmla="*/ 6486125 h 6858000"/>
              <a:gd name="connsiteX3" fmla="*/ 7666438 w 9353550"/>
              <a:gd name="connsiteY3" fmla="*/ 6508226 h 6858000"/>
              <a:gd name="connsiteX4" fmla="*/ 7666439 w 9353550"/>
              <a:gd name="connsiteY4" fmla="*/ 6508226 h 6858000"/>
              <a:gd name="connsiteX5" fmla="*/ 7645948 w 9353550"/>
              <a:gd name="connsiteY5" fmla="*/ 5652678 h 6858000"/>
              <a:gd name="connsiteX6" fmla="*/ 2103625 w 9353550"/>
              <a:gd name="connsiteY6" fmla="*/ 3064622 h 6858000"/>
              <a:gd name="connsiteX7" fmla="*/ 2639237 w 9353550"/>
              <a:gd name="connsiteY7" fmla="*/ 3616681 h 6858000"/>
              <a:gd name="connsiteX8" fmla="*/ 2103625 w 9353550"/>
              <a:gd name="connsiteY8" fmla="*/ 4168740 h 6858000"/>
              <a:gd name="connsiteX9" fmla="*/ 1568014 w 9353550"/>
              <a:gd name="connsiteY9" fmla="*/ 3616681 h 6858000"/>
              <a:gd name="connsiteX10" fmla="*/ 2103625 w 9353550"/>
              <a:gd name="connsiteY10" fmla="*/ 3064622 h 6858000"/>
              <a:gd name="connsiteX11" fmla="*/ 9353550 w 9353550"/>
              <a:gd name="connsiteY11" fmla="*/ 1560523 h 6858000"/>
              <a:gd name="connsiteX12" fmla="*/ 9353550 w 9353550"/>
              <a:gd name="connsiteY12" fmla="*/ 3447021 h 6858000"/>
              <a:gd name="connsiteX13" fmla="*/ 6528106 w 9353550"/>
              <a:gd name="connsiteY13" fmla="*/ 6655742 h 6858000"/>
              <a:gd name="connsiteX14" fmla="*/ 5676639 w 9353550"/>
              <a:gd name="connsiteY14" fmla="*/ 6679463 h 6858000"/>
              <a:gd name="connsiteX15" fmla="*/ 5654645 w 9353550"/>
              <a:gd name="connsiteY15" fmla="*/ 5761191 h 6858000"/>
              <a:gd name="connsiteX16" fmla="*/ 991068 w 9353550"/>
              <a:gd name="connsiteY16" fmla="*/ 1553329 h 6858000"/>
              <a:gd name="connsiteX17" fmla="*/ 1277397 w 9353550"/>
              <a:gd name="connsiteY17" fmla="*/ 1671989 h 6858000"/>
              <a:gd name="connsiteX18" fmla="*/ 1292033 w 9353550"/>
              <a:gd name="connsiteY18" fmla="*/ 2283039 h 6858000"/>
              <a:gd name="connsiteX19" fmla="*/ 691393 w 9353550"/>
              <a:gd name="connsiteY19" fmla="*/ 2965158 h 6858000"/>
              <a:gd name="connsiteX20" fmla="*/ 124798 w 9353550"/>
              <a:gd name="connsiteY20" fmla="*/ 2980942 h 6858000"/>
              <a:gd name="connsiteX21" fmla="*/ 110162 w 9353550"/>
              <a:gd name="connsiteY21" fmla="*/ 2369892 h 6858000"/>
              <a:gd name="connsiteX22" fmla="*/ 710803 w 9353550"/>
              <a:gd name="connsiteY22" fmla="*/ 1687774 h 6858000"/>
              <a:gd name="connsiteX23" fmla="*/ 991068 w 9353550"/>
              <a:gd name="connsiteY23" fmla="*/ 1553329 h 6858000"/>
              <a:gd name="connsiteX24" fmla="*/ 6894335 w 9353550"/>
              <a:gd name="connsiteY24" fmla="*/ 0 h 6858000"/>
              <a:gd name="connsiteX25" fmla="*/ 9353550 w 9353550"/>
              <a:gd name="connsiteY25" fmla="*/ 0 h 6858000"/>
              <a:gd name="connsiteX26" fmla="*/ 9353550 w 9353550"/>
              <a:gd name="connsiteY26" fmla="*/ 1224188 h 6858000"/>
              <a:gd name="connsiteX27" fmla="*/ 5091768 w 9353550"/>
              <a:gd name="connsiteY27" fmla="*/ 6064088 h 6858000"/>
              <a:gd name="connsiteX28" fmla="*/ 3278705 w 9353550"/>
              <a:gd name="connsiteY28" fmla="*/ 6114596 h 6858000"/>
              <a:gd name="connsiteX29" fmla="*/ 3278706 w 9353550"/>
              <a:gd name="connsiteY29" fmla="*/ 6114596 h 6858000"/>
              <a:gd name="connsiteX30" fmla="*/ 3231873 w 9353550"/>
              <a:gd name="connsiteY30" fmla="*/ 4159282 h 6858000"/>
              <a:gd name="connsiteX31" fmla="*/ 3523860 w 9353550"/>
              <a:gd name="connsiteY31" fmla="*/ 0 h 6858000"/>
              <a:gd name="connsiteX32" fmla="*/ 6564793 w 9353550"/>
              <a:gd name="connsiteY32" fmla="*/ 0 h 6858000"/>
              <a:gd name="connsiteX33" fmla="*/ 6552328 w 9353550"/>
              <a:gd name="connsiteY33" fmla="*/ 17354 h 6858000"/>
              <a:gd name="connsiteX34" fmla="*/ 4056265 w 9353550"/>
              <a:gd name="connsiteY34" fmla="*/ 2852013 h 6858000"/>
              <a:gd name="connsiteX35" fmla="*/ 2496118 w 9353550"/>
              <a:gd name="connsiteY35" fmla="*/ 2895475 h 6858000"/>
              <a:gd name="connsiteX36" fmla="*/ 2455817 w 9353550"/>
              <a:gd name="connsiteY36" fmla="*/ 1212924 h 6858000"/>
              <a:gd name="connsiteX37" fmla="*/ 2229760 w 9353550"/>
              <a:gd name="connsiteY37" fmla="*/ 0 h 6858000"/>
              <a:gd name="connsiteX38" fmla="*/ 3335154 w 9353550"/>
              <a:gd name="connsiteY38" fmla="*/ 0 h 6858000"/>
              <a:gd name="connsiteX39" fmla="*/ 1985902 w 9353550"/>
              <a:gd name="connsiteY39" fmla="*/ 1532280 h 6858000"/>
              <a:gd name="connsiteX40" fmla="*/ 1419306 w 9353550"/>
              <a:gd name="connsiteY40" fmla="*/ 1548064 h 6858000"/>
              <a:gd name="connsiteX41" fmla="*/ 1404671 w 9353550"/>
              <a:gd name="connsiteY41" fmla="*/ 9370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9353550" h="6858000">
                <a:moveTo>
                  <a:pt x="9353550" y="3713436"/>
                </a:moveTo>
                <a:lnTo>
                  <a:pt x="9353550" y="5471074"/>
                </a:lnTo>
                <a:lnTo>
                  <a:pt x="8459744" y="6486125"/>
                </a:lnTo>
                <a:cubicBezTo>
                  <a:pt x="8246338" y="6728481"/>
                  <a:pt x="7891161" y="6738375"/>
                  <a:pt x="7666438" y="6508226"/>
                </a:cubicBezTo>
                <a:lnTo>
                  <a:pt x="7666439" y="6508226"/>
                </a:lnTo>
                <a:cubicBezTo>
                  <a:pt x="7441716" y="6278076"/>
                  <a:pt x="7432540" y="5895034"/>
                  <a:pt x="7645948" y="5652678"/>
                </a:cubicBezTo>
                <a:close/>
                <a:moveTo>
                  <a:pt x="2103625" y="3064622"/>
                </a:moveTo>
                <a:cubicBezTo>
                  <a:pt x="2399435" y="3064622"/>
                  <a:pt x="2639237" y="3311787"/>
                  <a:pt x="2639237" y="3616681"/>
                </a:cubicBezTo>
                <a:cubicBezTo>
                  <a:pt x="2639237" y="3921574"/>
                  <a:pt x="2399435" y="4168740"/>
                  <a:pt x="2103625" y="4168740"/>
                </a:cubicBezTo>
                <a:cubicBezTo>
                  <a:pt x="1807816" y="4168740"/>
                  <a:pt x="1568014" y="3921574"/>
                  <a:pt x="1568014" y="3616681"/>
                </a:cubicBezTo>
                <a:cubicBezTo>
                  <a:pt x="1568014" y="3311787"/>
                  <a:pt x="1807816" y="3064622"/>
                  <a:pt x="2103625" y="3064622"/>
                </a:cubicBezTo>
                <a:close/>
                <a:moveTo>
                  <a:pt x="9353550" y="1560523"/>
                </a:moveTo>
                <a:lnTo>
                  <a:pt x="9353550" y="3447021"/>
                </a:lnTo>
                <a:lnTo>
                  <a:pt x="6528106" y="6655742"/>
                </a:lnTo>
                <a:cubicBezTo>
                  <a:pt x="6299053" y="6915866"/>
                  <a:pt x="5917840" y="6926486"/>
                  <a:pt x="5676639" y="6679463"/>
                </a:cubicBezTo>
                <a:cubicBezTo>
                  <a:pt x="5435439" y="6432438"/>
                  <a:pt x="5425592" y="6021315"/>
                  <a:pt x="5654645" y="5761191"/>
                </a:cubicBezTo>
                <a:close/>
                <a:moveTo>
                  <a:pt x="991068" y="1553329"/>
                </a:moveTo>
                <a:cubicBezTo>
                  <a:pt x="1093602" y="1550473"/>
                  <a:pt x="1197146" y="1589801"/>
                  <a:pt x="1277397" y="1671989"/>
                </a:cubicBezTo>
                <a:cubicBezTo>
                  <a:pt x="1437899" y="1836368"/>
                  <a:pt x="1444452" y="2109944"/>
                  <a:pt x="1292033" y="2283039"/>
                </a:cubicBezTo>
                <a:lnTo>
                  <a:pt x="691393" y="2965158"/>
                </a:lnTo>
                <a:cubicBezTo>
                  <a:pt x="538974" y="3138253"/>
                  <a:pt x="285301" y="3145319"/>
                  <a:pt x="124798" y="2980942"/>
                </a:cubicBezTo>
                <a:cubicBezTo>
                  <a:pt x="-35705" y="2816564"/>
                  <a:pt x="-42257" y="2542987"/>
                  <a:pt x="110162" y="2369892"/>
                </a:cubicBezTo>
                <a:lnTo>
                  <a:pt x="710803" y="1687774"/>
                </a:lnTo>
                <a:cubicBezTo>
                  <a:pt x="787013" y="1601226"/>
                  <a:pt x="888535" y="1556186"/>
                  <a:pt x="991068" y="1553329"/>
                </a:cubicBezTo>
                <a:close/>
                <a:moveTo>
                  <a:pt x="6894335" y="0"/>
                </a:moveTo>
                <a:lnTo>
                  <a:pt x="9353550" y="0"/>
                </a:lnTo>
                <a:lnTo>
                  <a:pt x="9353550" y="1224188"/>
                </a:lnTo>
                <a:lnTo>
                  <a:pt x="5091768" y="6064088"/>
                </a:lnTo>
                <a:cubicBezTo>
                  <a:pt x="4604037" y="6617980"/>
                  <a:pt x="3792301" y="6640593"/>
                  <a:pt x="3278705" y="6114596"/>
                </a:cubicBezTo>
                <a:lnTo>
                  <a:pt x="3278706" y="6114596"/>
                </a:lnTo>
                <a:cubicBezTo>
                  <a:pt x="2765111" y="5588598"/>
                  <a:pt x="2744141" y="4713175"/>
                  <a:pt x="3231873" y="4159282"/>
                </a:cubicBezTo>
                <a:close/>
                <a:moveTo>
                  <a:pt x="3523860" y="0"/>
                </a:moveTo>
                <a:lnTo>
                  <a:pt x="6564793" y="0"/>
                </a:lnTo>
                <a:lnTo>
                  <a:pt x="6552328" y="17354"/>
                </a:lnTo>
                <a:lnTo>
                  <a:pt x="4056265" y="2852013"/>
                </a:lnTo>
                <a:cubicBezTo>
                  <a:pt x="3636571" y="3328639"/>
                  <a:pt x="2938069" y="3348098"/>
                  <a:pt x="2496118" y="2895475"/>
                </a:cubicBezTo>
                <a:cubicBezTo>
                  <a:pt x="2054168" y="2442853"/>
                  <a:pt x="2036124" y="1689548"/>
                  <a:pt x="2455817" y="1212924"/>
                </a:cubicBezTo>
                <a:close/>
                <a:moveTo>
                  <a:pt x="2229760" y="0"/>
                </a:moveTo>
                <a:lnTo>
                  <a:pt x="3335154" y="0"/>
                </a:lnTo>
                <a:lnTo>
                  <a:pt x="1985902" y="1532280"/>
                </a:lnTo>
                <a:cubicBezTo>
                  <a:pt x="1833484" y="1705375"/>
                  <a:pt x="1579809" y="1712441"/>
                  <a:pt x="1419306" y="1548064"/>
                </a:cubicBezTo>
                <a:cubicBezTo>
                  <a:pt x="1258803" y="1383686"/>
                  <a:pt x="1252251" y="1110109"/>
                  <a:pt x="1404671" y="937014"/>
                </a:cubicBezTo>
                <a:close/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BE546E-3976-975A-8751-21846E49E79A}"/>
              </a:ext>
            </a:extLst>
          </p:cNvPr>
          <p:cNvSpPr txBox="1">
            <a:spLocks/>
          </p:cNvSpPr>
          <p:nvPr/>
        </p:nvSpPr>
        <p:spPr>
          <a:xfrm>
            <a:off x="2266950" y="-7271013"/>
            <a:ext cx="5060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 Bold" pitchFamily="2" charset="0"/>
              </a:rPr>
              <a:t>Troubleshooting</a:t>
            </a:r>
            <a:endParaRPr lang="en-IN" sz="3600" b="1" dirty="0">
              <a:latin typeface="Montserrat Bold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7B56C-9F94-041C-146E-0DD4A8CCCCAB}"/>
              </a:ext>
            </a:extLst>
          </p:cNvPr>
          <p:cNvSpPr txBox="1"/>
          <p:nvPr/>
        </p:nvSpPr>
        <p:spPr>
          <a:xfrm>
            <a:off x="3874203" y="14366099"/>
            <a:ext cx="2948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helps restore Machine functionality quickly, Minimize Downtime &amp; ensures Safe Operation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5386A-DF38-8A13-F5B3-4E47FFB928C1}"/>
              </a:ext>
            </a:extLst>
          </p:cNvPr>
          <p:cNvSpPr txBox="1"/>
          <p:nvPr/>
        </p:nvSpPr>
        <p:spPr>
          <a:xfrm>
            <a:off x="7066509" y="14802563"/>
            <a:ext cx="41257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Identification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Multimeter Usage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Error Code Interpretation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Signal Tracing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Root Cause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4D7E99-3BA9-54D1-318E-9AC13414915A}"/>
              </a:ext>
            </a:extLst>
          </p:cNvPr>
          <p:cNvSpPr txBox="1"/>
          <p:nvPr/>
        </p:nvSpPr>
        <p:spPr>
          <a:xfrm>
            <a:off x="659696" y="14366099"/>
            <a:ext cx="3214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It is the Process of Identifying, diagnosing &amp; Resolving faults in Electrical or Control System.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CB4E030-D6D6-9E92-7B6A-DAD9CCAE098A}"/>
              </a:ext>
            </a:extLst>
          </p:cNvPr>
          <p:cNvGrpSpPr/>
          <p:nvPr/>
        </p:nvGrpSpPr>
        <p:grpSpPr>
          <a:xfrm>
            <a:off x="3928748" y="10862684"/>
            <a:ext cx="1762298" cy="1751709"/>
            <a:chOff x="4060893" y="2399815"/>
            <a:chExt cx="1762298" cy="175170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7771FC0-9B40-1C4D-48B1-409EC6ADE9FE}"/>
                </a:ext>
              </a:extLst>
            </p:cNvPr>
            <p:cNvSpPr/>
            <p:nvPr/>
          </p:nvSpPr>
          <p:spPr>
            <a:xfrm>
              <a:off x="4060893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Graphic 17" descr="Bullseye with solid fill">
              <a:extLst>
                <a:ext uri="{FF2B5EF4-FFF2-40B4-BE49-F238E27FC236}">
                  <a16:creationId xmlns:a16="http://schemas.microsoft.com/office/drawing/2014/main" id="{A6B58E28-9DB5-8B82-7489-DDB4E5087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50405" y="2684031"/>
              <a:ext cx="1183274" cy="1183274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28F3AD-059B-D51E-B9E3-F797F95F3C90}"/>
              </a:ext>
            </a:extLst>
          </p:cNvPr>
          <p:cNvGrpSpPr/>
          <p:nvPr/>
        </p:nvGrpSpPr>
        <p:grpSpPr>
          <a:xfrm>
            <a:off x="6872201" y="10852234"/>
            <a:ext cx="1762298" cy="1751709"/>
            <a:chOff x="7004346" y="2389365"/>
            <a:chExt cx="1762298" cy="175170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DF3B5D8-0021-3C01-8C7D-B69FA6C31862}"/>
                </a:ext>
              </a:extLst>
            </p:cNvPr>
            <p:cNvSpPr/>
            <p:nvPr/>
          </p:nvSpPr>
          <p:spPr>
            <a:xfrm>
              <a:off x="7004346" y="238936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1" name="Graphic 20" descr="Brain in head with solid fill">
              <a:extLst>
                <a:ext uri="{FF2B5EF4-FFF2-40B4-BE49-F238E27FC236}">
                  <a16:creationId xmlns:a16="http://schemas.microsoft.com/office/drawing/2014/main" id="{22A65055-B952-4FDD-847A-3D0DB1136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98654" y="2578378"/>
              <a:ext cx="1373681" cy="1373681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B72A6ED-756E-9A3B-3576-8428254825B7}"/>
              </a:ext>
            </a:extLst>
          </p:cNvPr>
          <p:cNvSpPr txBox="1"/>
          <p:nvPr/>
        </p:nvSpPr>
        <p:spPr>
          <a:xfrm>
            <a:off x="921090" y="12983722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What It is?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A222BD-4618-8305-3B74-1C05987D8396}"/>
              </a:ext>
            </a:extLst>
          </p:cNvPr>
          <p:cNvSpPr txBox="1"/>
          <p:nvPr/>
        </p:nvSpPr>
        <p:spPr>
          <a:xfrm>
            <a:off x="3843882" y="13045023"/>
            <a:ext cx="210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Why we Use it?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9ECD5-5B47-F2B4-A03F-855313D77F0A}"/>
              </a:ext>
            </a:extLst>
          </p:cNvPr>
          <p:cNvSpPr txBox="1"/>
          <p:nvPr/>
        </p:nvSpPr>
        <p:spPr>
          <a:xfrm>
            <a:off x="7196302" y="12983722"/>
            <a:ext cx="176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Skills Gained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57A35CA-BAAB-46B0-BDBB-970F2E5E684B}"/>
              </a:ext>
            </a:extLst>
          </p:cNvPr>
          <p:cNvGrpSpPr/>
          <p:nvPr/>
        </p:nvGrpSpPr>
        <p:grpSpPr>
          <a:xfrm>
            <a:off x="921090" y="10852232"/>
            <a:ext cx="1762298" cy="1751709"/>
            <a:chOff x="1111179" y="2399815"/>
            <a:chExt cx="1762298" cy="1751709"/>
          </a:xfrm>
        </p:grpSpPr>
        <p:sp>
          <p:nvSpPr>
            <p:cNvPr id="64" name="Oval 63">
              <a:hlinkClick r:id="rId2" action="ppaction://hlinksldjump"/>
              <a:extLst>
                <a:ext uri="{FF2B5EF4-FFF2-40B4-BE49-F238E27FC236}">
                  <a16:creationId xmlns:a16="http://schemas.microsoft.com/office/drawing/2014/main" id="{8459B92A-19A9-00CF-1EDA-2071C5E4A4B4}"/>
                </a:ext>
              </a:extLst>
            </p:cNvPr>
            <p:cNvSpPr/>
            <p:nvPr/>
          </p:nvSpPr>
          <p:spPr>
            <a:xfrm>
              <a:off x="1111179" y="2399815"/>
              <a:ext cx="1762298" cy="17517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65" name="Graphic 64" descr="Lightbulb with solid fill">
              <a:hlinkClick r:id="rId2" action="ppaction://hlinksldjump"/>
              <a:extLst>
                <a:ext uri="{FF2B5EF4-FFF2-40B4-BE49-F238E27FC236}">
                  <a16:creationId xmlns:a16="http://schemas.microsoft.com/office/drawing/2014/main" id="{10F26129-1A30-86D0-123E-4DE644728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433629" y="2722575"/>
              <a:ext cx="1106186" cy="1106186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ECC54BB-0966-3114-FF0F-9D819D18AFA1}"/>
              </a:ext>
            </a:extLst>
          </p:cNvPr>
          <p:cNvGrpSpPr/>
          <p:nvPr/>
        </p:nvGrpSpPr>
        <p:grpSpPr>
          <a:xfrm>
            <a:off x="3426753" y="-9830811"/>
            <a:ext cx="1762298" cy="2231438"/>
            <a:chOff x="2657265" y="1443842"/>
            <a:chExt cx="1762298" cy="223143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9AA7318-D65B-9718-8B8E-20753295CB1B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3028949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Circuit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A3291A7-0D4C-15A3-5C76-6A27D450D234}"/>
                </a:ext>
              </a:extLst>
            </p:cNvPr>
            <p:cNvGrpSpPr/>
            <p:nvPr/>
          </p:nvGrpSpPr>
          <p:grpSpPr>
            <a:xfrm>
              <a:off x="2842332" y="1443842"/>
              <a:ext cx="1392164" cy="1323439"/>
              <a:chOff x="2842332" y="1443842"/>
              <a:chExt cx="1392164" cy="1323439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ABDD9F7-99A6-0E2A-0B32-B6331855D66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70" name="Graphic 69" descr="Processor with solid fill">
                <a:extLst>
                  <a:ext uri="{FF2B5EF4-FFF2-40B4-BE49-F238E27FC236}">
                    <a16:creationId xmlns:a16="http://schemas.microsoft.com/office/drawing/2014/main" id="{CF2C46B7-BC56-652A-15B3-7C5E7963B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20353" y="1587500"/>
                <a:ext cx="1043647" cy="1043647"/>
              </a:xfrm>
              <a:prstGeom prst="rect">
                <a:avLst/>
              </a:prstGeom>
            </p:spPr>
          </p:pic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6CDE787-2C42-45F2-606C-89BBDBBE4696}"/>
              </a:ext>
            </a:extLst>
          </p:cNvPr>
          <p:cNvGrpSpPr/>
          <p:nvPr/>
        </p:nvGrpSpPr>
        <p:grpSpPr>
          <a:xfrm>
            <a:off x="1346398" y="-11732524"/>
            <a:ext cx="1762298" cy="2282369"/>
            <a:chOff x="729459" y="1443842"/>
            <a:chExt cx="1762298" cy="2282369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191A23A-898D-9B2B-C656-01971A37B7A5}"/>
                </a:ext>
              </a:extLst>
            </p:cNvPr>
            <p:cNvSpPr txBox="1">
              <a:spLocks/>
            </p:cNvSpPr>
            <p:nvPr/>
          </p:nvSpPr>
          <p:spPr>
            <a:xfrm>
              <a:off x="729459" y="3079880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Electrical BOM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8454FBB-0B9A-D591-AA2D-AD538F5A07F3}"/>
                </a:ext>
              </a:extLst>
            </p:cNvPr>
            <p:cNvGrpSpPr/>
            <p:nvPr/>
          </p:nvGrpSpPr>
          <p:grpSpPr>
            <a:xfrm>
              <a:off x="914526" y="1443842"/>
              <a:ext cx="1392164" cy="1323439"/>
              <a:chOff x="914526" y="1443842"/>
              <a:chExt cx="1392164" cy="1323439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C0539A8A-D622-249F-3C64-C7BE1A526C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75" name="Graphic 74" descr="Transfer1 with solid fill">
                <a:extLst>
                  <a:ext uri="{FF2B5EF4-FFF2-40B4-BE49-F238E27FC236}">
                    <a16:creationId xmlns:a16="http://schemas.microsoft.com/office/drawing/2014/main" id="{325C4180-00FB-7B77-CD42-2921FFB2B7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12300" y="1656247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FDE6B09-7CAD-51F0-AD5F-9E52B44C8B82}"/>
              </a:ext>
            </a:extLst>
          </p:cNvPr>
          <p:cNvGrpSpPr/>
          <p:nvPr/>
        </p:nvGrpSpPr>
        <p:grpSpPr>
          <a:xfrm>
            <a:off x="5245138" y="-7451015"/>
            <a:ext cx="1762298" cy="2249120"/>
            <a:chOff x="4585071" y="1443842"/>
            <a:chExt cx="1762298" cy="224912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8CF1BED-F36D-94C0-C0E9-7A2FC2E572AE}"/>
                </a:ext>
              </a:extLst>
            </p:cNvPr>
            <p:cNvSpPr txBox="1">
              <a:spLocks/>
            </p:cNvSpPr>
            <p:nvPr/>
          </p:nvSpPr>
          <p:spPr>
            <a:xfrm>
              <a:off x="4585071" y="3046631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Floor Wiring Diagram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9D9936D9-CFF8-604D-023C-F7A45D536137}"/>
                </a:ext>
              </a:extLst>
            </p:cNvPr>
            <p:cNvGrpSpPr/>
            <p:nvPr/>
          </p:nvGrpSpPr>
          <p:grpSpPr>
            <a:xfrm>
              <a:off x="4770138" y="1443842"/>
              <a:ext cx="1392164" cy="1323439"/>
              <a:chOff x="4770138" y="1443842"/>
              <a:chExt cx="1392164" cy="1323439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AE1E727-9D7F-13CB-4F6D-5D1994A698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70138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80" name="Graphic 79" descr="Plug with solid fill">
                <a:extLst>
                  <a:ext uri="{FF2B5EF4-FFF2-40B4-BE49-F238E27FC236}">
                    <a16:creationId xmlns:a16="http://schemas.microsoft.com/office/drawing/2014/main" id="{6CA87DC7-3CF0-CDE5-7A74-2DB30F4E50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5024184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BA05BBB-10A5-BA5D-2B2E-A502C08FB071}"/>
              </a:ext>
            </a:extLst>
          </p:cNvPr>
          <p:cNvGrpSpPr/>
          <p:nvPr/>
        </p:nvGrpSpPr>
        <p:grpSpPr>
          <a:xfrm>
            <a:off x="7327404" y="-5525061"/>
            <a:ext cx="2416928" cy="2231439"/>
            <a:chOff x="6136494" y="1443842"/>
            <a:chExt cx="2416928" cy="2231439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CD5BF4F-46B2-A189-A102-87F457432E96}"/>
                </a:ext>
              </a:extLst>
            </p:cNvPr>
            <p:cNvSpPr txBox="1">
              <a:spLocks/>
            </p:cNvSpPr>
            <p:nvPr/>
          </p:nvSpPr>
          <p:spPr>
            <a:xfrm>
              <a:off x="6136494" y="3028950"/>
              <a:ext cx="24169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5167EFD0-0372-F55D-3CDB-0B6A268C7089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7EFDF1D-B627-DEC1-C682-518945B57ED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85" name="Graphic 84" descr="Circles with arrows with solid fill">
                <a:extLst>
                  <a:ext uri="{FF2B5EF4-FFF2-40B4-BE49-F238E27FC236}">
                    <a16:creationId xmlns:a16="http://schemas.microsoft.com/office/drawing/2014/main" id="{C0713C4F-1CC6-1CF9-C3CA-6B769B0600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9ADA7B9-DE05-191A-FD89-7F4B0A7D07E8}"/>
              </a:ext>
            </a:extLst>
          </p:cNvPr>
          <p:cNvGrpSpPr/>
          <p:nvPr/>
        </p:nvGrpSpPr>
        <p:grpSpPr>
          <a:xfrm>
            <a:off x="7926977" y="25599072"/>
            <a:ext cx="2278381" cy="1859740"/>
            <a:chOff x="4343368" y="4090719"/>
            <a:chExt cx="2278381" cy="1859740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9C0C739-130C-6A42-ED92-7DDD5283FDE4}"/>
                </a:ext>
              </a:extLst>
            </p:cNvPr>
            <p:cNvSpPr txBox="1">
              <a:spLocks/>
            </p:cNvSpPr>
            <p:nvPr/>
          </p:nvSpPr>
          <p:spPr>
            <a:xfrm>
              <a:off x="4343368" y="5581127"/>
              <a:ext cx="2278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Troubleshooting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21F1551-AA65-29EB-9C17-366E3DA7DCA8}"/>
                </a:ext>
              </a:extLst>
            </p:cNvPr>
            <p:cNvGrpSpPr/>
            <p:nvPr/>
          </p:nvGrpSpPr>
          <p:grpSpPr>
            <a:xfrm>
              <a:off x="4823367" y="4090719"/>
              <a:ext cx="1392164" cy="1323439"/>
              <a:chOff x="4823367" y="4090719"/>
              <a:chExt cx="1392164" cy="13234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CA4BE36-695F-0F40-A67E-A93C4BDEC3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23367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90" name="Graphic 89" descr="Tools with solid fill">
                <a:extLst>
                  <a:ext uri="{FF2B5EF4-FFF2-40B4-BE49-F238E27FC236}">
                    <a16:creationId xmlns:a16="http://schemas.microsoft.com/office/drawing/2014/main" id="{D0FF0D06-AB50-058F-5ABB-1E1C86251F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5059882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D8405A3-4FF7-4D28-2DD0-689664F547A2}"/>
              </a:ext>
            </a:extLst>
          </p:cNvPr>
          <p:cNvGrpSpPr/>
          <p:nvPr/>
        </p:nvGrpSpPr>
        <p:grpSpPr>
          <a:xfrm>
            <a:off x="921090" y="19067002"/>
            <a:ext cx="1975218" cy="2119058"/>
            <a:chOff x="581891" y="4090719"/>
            <a:chExt cx="1975218" cy="2119058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B481BC5-7489-023E-CAD1-DC023D6A251F}"/>
                </a:ext>
              </a:extLst>
            </p:cNvPr>
            <p:cNvSpPr txBox="1">
              <a:spLocks/>
            </p:cNvSpPr>
            <p:nvPr/>
          </p:nvSpPr>
          <p:spPr>
            <a:xfrm>
              <a:off x="581891" y="5563446"/>
              <a:ext cx="19752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Drive 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Configuration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B06B957-010D-78B6-0628-2D9BD681D6A7}"/>
                </a:ext>
              </a:extLst>
            </p:cNvPr>
            <p:cNvGrpSpPr/>
            <p:nvPr/>
          </p:nvGrpSpPr>
          <p:grpSpPr>
            <a:xfrm>
              <a:off x="914526" y="4090719"/>
              <a:ext cx="1392164" cy="1323439"/>
              <a:chOff x="914526" y="4090719"/>
              <a:chExt cx="1392164" cy="132343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10691EE-F0A7-A140-5E62-C5672FB58B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526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95" name="Graphic 94" descr="Gears with solid fill">
                <a:extLst>
                  <a:ext uri="{FF2B5EF4-FFF2-40B4-BE49-F238E27FC236}">
                    <a16:creationId xmlns:a16="http://schemas.microsoft.com/office/drawing/2014/main" id="{8358193B-C765-FA77-039D-72544E6FAA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153408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47BC803-C8DD-7337-E9DB-1D405092F531}"/>
              </a:ext>
            </a:extLst>
          </p:cNvPr>
          <p:cNvGrpSpPr/>
          <p:nvPr/>
        </p:nvGrpSpPr>
        <p:grpSpPr>
          <a:xfrm>
            <a:off x="5430205" y="23233478"/>
            <a:ext cx="1975217" cy="2119058"/>
            <a:chOff x="6512876" y="4090719"/>
            <a:chExt cx="1975217" cy="211905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FB4A10C-5465-77F6-6D2C-0FC9A61F84B7}"/>
                </a:ext>
              </a:extLst>
            </p:cNvPr>
            <p:cNvSpPr txBox="1">
              <a:spLocks/>
            </p:cNvSpPr>
            <p:nvPr/>
          </p:nvSpPr>
          <p:spPr>
            <a:xfrm>
              <a:off x="6512876" y="5563446"/>
              <a:ext cx="19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Montserrat" pitchFamily="2" charset="0"/>
                </a:rPr>
                <a:t>Programming</a:t>
              </a:r>
            </a:p>
            <a:p>
              <a:pPr algn="ctr"/>
              <a:r>
                <a:rPr lang="en-US" b="1" dirty="0">
                  <a:latin typeface="Montserrat" pitchFamily="2" charset="0"/>
                </a:rPr>
                <a:t>Logic</a:t>
              </a:r>
              <a:endParaRPr lang="en-IN" b="1" dirty="0">
                <a:latin typeface="Montserrat" pitchFamily="2" charset="0"/>
              </a:endParaRP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0239B77-156E-66A1-2350-573DE5FF8E1C}"/>
                </a:ext>
              </a:extLst>
            </p:cNvPr>
            <p:cNvGrpSpPr/>
            <p:nvPr/>
          </p:nvGrpSpPr>
          <p:grpSpPr>
            <a:xfrm>
              <a:off x="6804402" y="4090719"/>
              <a:ext cx="1392164" cy="1323439"/>
              <a:chOff x="6804402" y="4090719"/>
              <a:chExt cx="1392164" cy="1323439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BC681D0-5D61-DDF4-279A-D94AD4EC9D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0440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100" name="Graphic 99" descr="Programmer male with solid fill">
                <a:extLst>
                  <a:ext uri="{FF2B5EF4-FFF2-40B4-BE49-F238E27FC236}">
                    <a16:creationId xmlns:a16="http://schemas.microsoft.com/office/drawing/2014/main" id="{7F146F9B-43FB-DBC2-3689-3A27326B3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7043284" y="42805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54BD2EE-3B6F-CDE6-B528-DAFB815A6930}"/>
              </a:ext>
            </a:extLst>
          </p:cNvPr>
          <p:cNvGrpSpPr/>
          <p:nvPr/>
        </p:nvGrpSpPr>
        <p:grpSpPr>
          <a:xfrm>
            <a:off x="3120716" y="21462354"/>
            <a:ext cx="1762298" cy="2094290"/>
            <a:chOff x="2657265" y="4090719"/>
            <a:chExt cx="1762298" cy="2094290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9D17958-39D6-3453-F9CE-47D7A8B2EB3D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E329562-4F7C-3AFE-9E7C-778580FC22C9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04" name="Oval 103">
                <a:hlinkClick r:id="rId26" action="ppaction://hlinksldjump"/>
                <a:extLst>
                  <a:ext uri="{FF2B5EF4-FFF2-40B4-BE49-F238E27FC236}">
                    <a16:creationId xmlns:a16="http://schemas.microsoft.com/office/drawing/2014/main" id="{0586548B-2CE8-23B0-E5CF-A02C9F5DEF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05" name="Graphic 104" descr="Workflow with solid fill">
                <a:extLst>
                  <a:ext uri="{FF2B5EF4-FFF2-40B4-BE49-F238E27FC236}">
                    <a16:creationId xmlns:a16="http://schemas.microsoft.com/office/drawing/2014/main" id="{135DE97C-3E31-9697-F818-1C1920BC0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9614867-FCEE-2831-BC8C-BB5AF046B043}"/>
              </a:ext>
            </a:extLst>
          </p:cNvPr>
          <p:cNvGrpSpPr/>
          <p:nvPr/>
        </p:nvGrpSpPr>
        <p:grpSpPr>
          <a:xfrm>
            <a:off x="3144170" y="21186060"/>
            <a:ext cx="1762298" cy="2094290"/>
            <a:chOff x="2657265" y="4090719"/>
            <a:chExt cx="1762298" cy="2094290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D71361F-6D19-6DF3-164C-C8B8FF663EBB}"/>
                </a:ext>
              </a:extLst>
            </p:cNvPr>
            <p:cNvSpPr txBox="1">
              <a:spLocks/>
            </p:cNvSpPr>
            <p:nvPr/>
          </p:nvSpPr>
          <p:spPr>
            <a:xfrm>
              <a:off x="2657265" y="5538678"/>
              <a:ext cx="17622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Sequence of Operation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E865A4E-A28D-3629-BF8B-2211756ACBE1}"/>
                </a:ext>
              </a:extLst>
            </p:cNvPr>
            <p:cNvGrpSpPr/>
            <p:nvPr/>
          </p:nvGrpSpPr>
          <p:grpSpPr>
            <a:xfrm>
              <a:off x="2842332" y="4090719"/>
              <a:ext cx="1392164" cy="1323439"/>
              <a:chOff x="2842332" y="4090719"/>
              <a:chExt cx="1392164" cy="1323439"/>
            </a:xfrm>
          </p:grpSpPr>
          <p:sp>
            <p:nvSpPr>
              <p:cNvPr id="109" name="Oval 108">
                <a:hlinkClick r:id="rId26" action="ppaction://hlinksldjump"/>
                <a:extLst>
                  <a:ext uri="{FF2B5EF4-FFF2-40B4-BE49-F238E27FC236}">
                    <a16:creationId xmlns:a16="http://schemas.microsoft.com/office/drawing/2014/main" id="{B2C344C4-8B6A-D858-DF78-3B37E066CF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42332" y="4090719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10" name="Graphic 109" descr="Workflow with solid fill">
                <a:extLst>
                  <a:ext uri="{FF2B5EF4-FFF2-40B4-BE49-F238E27FC236}">
                    <a16:creationId xmlns:a16="http://schemas.microsoft.com/office/drawing/2014/main" id="{502723C4-23DC-61CB-A91C-5900AA7F5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3081214" y="429523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CC0CCFEE-444C-2129-307D-933184D206D8}"/>
              </a:ext>
            </a:extLst>
          </p:cNvPr>
          <p:cNvSpPr txBox="1">
            <a:spLocks/>
          </p:cNvSpPr>
          <p:nvPr/>
        </p:nvSpPr>
        <p:spPr>
          <a:xfrm>
            <a:off x="3015794" y="-7645217"/>
            <a:ext cx="3016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 Bold" pitchFamily="2" charset="0"/>
              </a:rPr>
              <a:t>Objective</a:t>
            </a:r>
            <a:endParaRPr lang="en-IN" sz="4000" b="1" dirty="0">
              <a:solidFill>
                <a:schemeClr val="bg2">
                  <a:lumMod val="25000"/>
                </a:schemeClr>
              </a:solidFill>
              <a:latin typeface="Montserrat Bold" pitchFamily="2" charset="0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65028F2-0BF9-2741-E886-1324C41F0805}"/>
              </a:ext>
            </a:extLst>
          </p:cNvPr>
          <p:cNvGrpSpPr/>
          <p:nvPr/>
        </p:nvGrpSpPr>
        <p:grpSpPr>
          <a:xfrm>
            <a:off x="7323429" y="-5441455"/>
            <a:ext cx="2376946" cy="2196380"/>
            <a:chOff x="6347369" y="1443842"/>
            <a:chExt cx="2376946" cy="219638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2EBE414-7ADD-5430-1560-2B6113A0C5A3}"/>
                </a:ext>
              </a:extLst>
            </p:cNvPr>
            <p:cNvSpPr txBox="1">
              <a:spLocks/>
            </p:cNvSpPr>
            <p:nvPr/>
          </p:nvSpPr>
          <p:spPr>
            <a:xfrm>
              <a:off x="6347369" y="2993891"/>
              <a:ext cx="23769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Montserrat" pitchFamily="2" charset="0"/>
                </a:rPr>
                <a:t>Various Processes &amp; Parameter</a:t>
              </a:r>
              <a:endParaRPr lang="en-IN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E532653E-2FE7-0F6E-B2C4-4DEE182BE99F}"/>
                </a:ext>
              </a:extLst>
            </p:cNvPr>
            <p:cNvGrpSpPr/>
            <p:nvPr/>
          </p:nvGrpSpPr>
          <p:grpSpPr>
            <a:xfrm>
              <a:off x="6697944" y="1443842"/>
              <a:ext cx="1392164" cy="1323439"/>
              <a:chOff x="6697944" y="1443842"/>
              <a:chExt cx="1392164" cy="1323439"/>
            </a:xfrm>
          </p:grpSpPr>
          <p:sp>
            <p:nvSpPr>
              <p:cNvPr id="115" name="Oval 114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9F436957-06F7-B09B-3B9C-38AF73B5EC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7944" y="1443842"/>
                <a:ext cx="1392164" cy="13234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2">
                      <a:lumMod val="90000"/>
                      <a:lumOff val="10000"/>
                    </a:schemeClr>
                  </a:solidFill>
                </a:endParaRPr>
              </a:p>
            </p:txBody>
          </p:sp>
          <p:pic>
            <p:nvPicPr>
              <p:cNvPr id="116" name="Graphic 115" descr="Circles with arrows with solid fill">
                <a:extLst>
                  <a:ext uri="{FF2B5EF4-FFF2-40B4-BE49-F238E27FC236}">
                    <a16:creationId xmlns:a16="http://schemas.microsoft.com/office/drawing/2014/main" id="{5E590E69-CB9C-87B5-0A6F-72A97F30BA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6936826" y="1648361"/>
                <a:ext cx="914400" cy="914400"/>
              </a:xfrm>
              <a:prstGeom prst="rect">
                <a:avLst/>
              </a:prstGeom>
            </p:spPr>
          </p:pic>
        </p:grp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419A97E-A933-4EBA-F94E-712D16B04A60}"/>
              </a:ext>
            </a:extLst>
          </p:cNvPr>
          <p:cNvCxnSpPr>
            <a:cxnSpLocks/>
          </p:cNvCxnSpPr>
          <p:nvPr/>
        </p:nvCxnSpPr>
        <p:spPr>
          <a:xfrm>
            <a:off x="3485334" y="13496383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D92D075B-4E8A-32D6-FA0F-A7E702D34275}"/>
              </a:ext>
            </a:extLst>
          </p:cNvPr>
          <p:cNvCxnSpPr>
            <a:cxnSpLocks/>
          </p:cNvCxnSpPr>
          <p:nvPr/>
        </p:nvCxnSpPr>
        <p:spPr>
          <a:xfrm>
            <a:off x="6598651" y="13467872"/>
            <a:ext cx="0" cy="475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A24C1C-FB4B-9F9D-5F2E-588508F37921}"/>
              </a:ext>
            </a:extLst>
          </p:cNvPr>
          <p:cNvSpPr txBox="1"/>
          <p:nvPr/>
        </p:nvSpPr>
        <p:spPr>
          <a:xfrm>
            <a:off x="394327" y="4674211"/>
            <a:ext cx="5153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Montserrat" pitchFamily="2" charset="0"/>
              </a:rPr>
              <a:t>Questions? I’d be happy to explain more.</a:t>
            </a:r>
            <a:endParaRPr lang="en-IN" b="1" dirty="0">
              <a:solidFill>
                <a:schemeClr val="tx2">
                  <a:lumMod val="90000"/>
                  <a:lumOff val="10000"/>
                </a:schemeClr>
              </a:solidFill>
              <a:latin typeface="Montserra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9BCBC-F5A7-4BF1-1159-CDD885B3290A}"/>
              </a:ext>
            </a:extLst>
          </p:cNvPr>
          <p:cNvSpPr txBox="1"/>
          <p:nvPr/>
        </p:nvSpPr>
        <p:spPr>
          <a:xfrm>
            <a:off x="7027549" y="14784052"/>
            <a:ext cx="4436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Fault Identification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Various Measuring Instruments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Error Code Interpretation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Signal Tracing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Root Cause Analysis</a:t>
            </a:r>
          </a:p>
        </p:txBody>
      </p:sp>
    </p:spTree>
    <p:extLst>
      <p:ext uri="{BB962C8B-B14F-4D97-AF65-F5344CB8AC3E}">
        <p14:creationId xmlns:p14="http://schemas.microsoft.com/office/powerpoint/2010/main" val="3563574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2998</Words>
  <Application>Microsoft Office PowerPoint</Application>
  <PresentationFormat>Widescreen</PresentationFormat>
  <Paragraphs>654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Aptos Display</vt:lpstr>
      <vt:lpstr>Montserrat Bold</vt:lpstr>
      <vt:lpstr>Aptos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Suyash Shukla 232ELCS70</dc:creator>
  <cp:lastModifiedBy>Suyash Shukla 232ELCS70</cp:lastModifiedBy>
  <cp:revision>5</cp:revision>
  <dcterms:created xsi:type="dcterms:W3CDTF">2025-06-12T09:06:23Z</dcterms:created>
  <dcterms:modified xsi:type="dcterms:W3CDTF">2025-06-17T11:30:53Z</dcterms:modified>
</cp:coreProperties>
</file>